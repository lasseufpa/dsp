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5" r:id="rId3"/>
  </p:sldMasterIdLst>
  <p:notesMasterIdLst>
    <p:notesMasterId r:id="rId13"/>
  </p:notesMasterIdLst>
  <p:sldIdLst>
    <p:sldId id="258" r:id="rId4"/>
    <p:sldId id="338" r:id="rId5"/>
    <p:sldId id="342" r:id="rId6"/>
    <p:sldId id="341" r:id="rId7"/>
    <p:sldId id="343" r:id="rId8"/>
    <p:sldId id="344" r:id="rId9"/>
    <p:sldId id="339" r:id="rId10"/>
    <p:sldId id="345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C4FAE4A-B207-4FF2-B6D9-2DA09EA1BC42}">
          <p14:sldIdLst>
            <p14:sldId id="258"/>
            <p14:sldId id="338"/>
            <p14:sldId id="342"/>
            <p14:sldId id="341"/>
            <p14:sldId id="343"/>
            <p14:sldId id="344"/>
            <p14:sldId id="339"/>
            <p14:sldId id="345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DED50C-E34D-AFFF-D85C-E78EEFDB4F2E}" name="Lucas Mozart" initials="LM" userId="980d2b913cf724f7" providerId="Windows Live"/>
  <p188:author id="{3F85C41C-DF4F-56C1-1D90-EBFF7D5BBAE8}" name="Breno Silva" initials="BS" userId="c065c6085e3e68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732AF-617B-B02D-3EF4-44A2B63C8615}" v="369" dt="2026-07-01T20:39:54.118"/>
    <p1510:client id="{7CF464F0-6ABC-4387-BD82-D03691953147}" v="27" dt="2026-07-02T14:20:00.117"/>
    <p1510:client id="{9C4AA5A6-6E6F-4C80-B6E6-FAA6CF689FF4}" v="1373" dt="2026-07-02T12:07:54.986"/>
    <p1510:client id="{9F733670-A46D-2C8A-EFE8-C9ADEB206AA2}" v="79" dt="2026-07-02T15:19:30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67C47-2838-4CA3-9C8E-1307A3F7986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5B364-B1F4-486B-9CE8-2ADBE9897EA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42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/>
          </a:p>
        </p:txBody>
      </p:sp>
      <p:sp>
        <p:nvSpPr>
          <p:cNvPr id="33" name="Google Shape;33;g39695dd3e5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FE2114C-053B-37DA-54EE-ED378DA2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609A030-F72F-4EB2-8BA9-167245C97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E43230C-4C38-075D-B9CE-A0C2C12A6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5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47E28A9-A8D7-EF45-3000-C2193BC3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EFA4771C-BDF8-C892-8C21-726C9226B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8F427A21-AC14-0B22-4BDE-5F62C0F49A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836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2889BBA8-64D2-0C16-7A3D-422BEDCA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444772B7-9B70-4EC6-EA0B-75548927C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57E42648-AA2C-18EB-08FA-43F8F9375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652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E35DA63-7935-C8D5-E187-9035972B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416FA68E-2379-D7C9-55DF-45A9006DE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B05EC658-2883-AC87-0BED-3AC3ADAD6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2276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23267BC-EF59-6DF8-A212-4E8EB689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D3F35651-8472-DE9A-2EC0-4CFB80BE0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82C10ABD-AA38-7C68-EEC4-6A0A6051E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473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FE2114C-053B-37DA-54EE-ED378DA2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7609A030-F72F-4EB2-8BA9-167245C97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3E43230C-4C38-075D-B9CE-A0C2C12A6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56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CF9383F-FF13-7DEA-5F27-47521B7C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C357706-C69F-F7A3-8B67-B9EB43302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CA46B12B-1C0A-E008-351B-1C27D6489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0655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>
          <a:extLst>
            <a:ext uri="{FF2B5EF4-FFF2-40B4-BE49-F238E27FC236}">
              <a16:creationId xmlns:a16="http://schemas.microsoft.com/office/drawing/2014/main" id="{2592838A-BCA9-C802-768A-618625EC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695dd3e52_0_21:notes">
            <a:extLst>
              <a:ext uri="{FF2B5EF4-FFF2-40B4-BE49-F238E27FC236}">
                <a16:creationId xmlns:a16="http://schemas.microsoft.com/office/drawing/2014/main" id="{680EB454-1AC2-FCB7-67FB-52E0DB97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39695dd3e52_0_21:notes">
            <a:extLst>
              <a:ext uri="{FF2B5EF4-FFF2-40B4-BE49-F238E27FC236}">
                <a16:creationId xmlns:a16="http://schemas.microsoft.com/office/drawing/2014/main" id="{47705A17-3D14-F5AE-D0DF-778CB7F91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g39695dd3e52_0_21:notes">
            <a:extLst>
              <a:ext uri="{FF2B5EF4-FFF2-40B4-BE49-F238E27FC236}">
                <a16:creationId xmlns:a16="http://schemas.microsoft.com/office/drawing/2014/main" id="{6020BFE8-9CF4-5133-7E9A-EAECCDAADE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2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147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59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81B075-AB75-D145-BDC3-C6F54BCBBF93}"/>
              </a:ext>
            </a:extLst>
          </p:cNvPr>
          <p:cNvSpPr/>
          <p:nvPr/>
        </p:nvSpPr>
        <p:spPr>
          <a:xfrm>
            <a:off x="775063" y="1741715"/>
            <a:ext cx="5319414" cy="4519748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64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0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59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28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66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4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BD419854-2407-4A90-B8AA-05EBE910862A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" y="6356391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‹#›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3569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749C-2957-4EA2-823B-88F9FA922164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‹#›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47014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37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 type="obj">
  <p:cSld name="1_Título e conteúd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610600" y="6356349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38200" y="635639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39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28" y="367999"/>
            <a:ext cx="1216572" cy="13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8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5"/>
        </a:buBlip>
        <a:defRPr sz="2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4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20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5"/>
        </a:buBlip>
        <a:defRPr sz="1800" kern="1200">
          <a:solidFill>
            <a:schemeClr val="bg2">
              <a:lumMod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35" y="1178612"/>
            <a:ext cx="6069010" cy="60690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2FDF9-3C59-462F-92FA-FBEEAE4E9463}" type="datetime1">
              <a:rPr lang="pt-BR" smtClean="0">
                <a:solidFill>
                  <a:srgbClr val="4285F4">
                    <a:tint val="75000"/>
                  </a:srgbClr>
                </a:solidFill>
              </a:rPr>
              <a:t>02/07/2026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C4E0-510A-4CE8-BAC1-E31DDE1D53C8}" type="slidenum">
              <a:rPr lang="pt-BR" smtClean="0">
                <a:solidFill>
                  <a:srgbClr val="4285F4">
                    <a:tint val="75000"/>
                  </a:srgbClr>
                </a:solidFill>
              </a:rPr>
              <a:pPr/>
              <a:t>‹#›</a:t>
            </a:fld>
            <a:endParaRPr lang="pt-BR">
              <a:solidFill>
                <a:srgbClr val="4285F4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2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035" y="1178612"/>
            <a:ext cx="6069011" cy="60690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144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7373369-6457-47B7-BA3E-401B3A7E9069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76C8731B-3DE4-4481-82D5-B9C33540C46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3964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emf"/><Relationship Id="rId5" Type="http://schemas.openxmlformats.org/officeDocument/2006/relationships/image" Target="../media/image13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emf"/><Relationship Id="rId5" Type="http://schemas.openxmlformats.org/officeDocument/2006/relationships/image" Target="../media/image21.png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9.png"/><Relationship Id="rId12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 fontScale="90000"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 dirty="0"/>
            </a:br>
            <a:r>
              <a:rPr lang="en-US" sz="5850" noProof="0" dirty="0">
                <a:solidFill>
                  <a:schemeClr val="accent6"/>
                </a:solidFill>
              </a:rPr>
              <a:t>Digital Signal Processing</a:t>
            </a:r>
            <a:br>
              <a:rPr lang="en-US" sz="5850" noProof="0" dirty="0"/>
            </a:br>
            <a:br>
              <a:rPr lang="en-US" sz="4800" noProof="0" dirty="0"/>
            </a:br>
            <a:r>
              <a:rPr lang="en-US" sz="4800" noProof="0" dirty="0">
                <a:solidFill>
                  <a:schemeClr val="accent6"/>
                </a:solidFill>
              </a:rPr>
              <a:t>Spectral Estimation Techniques II</a:t>
            </a:r>
            <a:br>
              <a:rPr lang="en-US" sz="4800" noProof="0" dirty="0"/>
            </a:br>
            <a:endParaRPr lang="en-US" noProof="0" dirty="0">
              <a:solidFill>
                <a:schemeClr val="accent6"/>
              </a:solidFill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 dirty="0">
                <a:solidFill>
                  <a:srgbClr val="0C5ADB"/>
                </a:solidFill>
              </a:rPr>
              <a:t>Prof. Aldebaro Klautau</a:t>
            </a:r>
            <a:br>
              <a:rPr lang="en-US" sz="2800" b="1" noProof="0" dirty="0"/>
            </a:br>
            <a:r>
              <a:rPr lang="en-US" sz="2800" b="1" noProof="0" dirty="0">
                <a:solidFill>
                  <a:srgbClr val="0C5ADB"/>
                </a:solidFill>
              </a:rPr>
              <a:t>Federal University of Pará (UFPA)</a:t>
            </a:r>
            <a:endParaRPr lang="en-US" noProof="0" dirty="0"/>
          </a:p>
        </p:txBody>
      </p:sp>
      <p:sp>
        <p:nvSpPr>
          <p:cNvPr id="37" name="Google Shape;37;p6"/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 dirty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4BEC747-E488-3668-BE4F-848112E6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971D8F43-96C0-9EDC-E5B4-227F2E36CBCB}"/>
              </a:ext>
            </a:extLst>
          </p:cNvPr>
          <p:cNvSpPr txBox="1"/>
          <p:nvPr/>
        </p:nvSpPr>
        <p:spPr bwMode="auto">
          <a:xfrm>
            <a:off x="0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CEF19ABD-E377-CD09-5ADC-379DD8BE5E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2</a:t>
            </a:fld>
            <a:endParaRPr lang="en-US" noProof="0" dirty="0">
              <a:solidFill>
                <a:schemeClr val="lt1"/>
              </a:solidFill>
            </a:endParaRPr>
          </a:p>
        </p:txBody>
      </p:sp>
      <p:pic>
        <p:nvPicPr>
          <p:cNvPr id="14" name="Picture 1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849835A5-1F6C-C709-69A7-A4FD0F1C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827" y="2891065"/>
            <a:ext cx="1357542" cy="4948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5EB8EA-008E-B78F-50DF-DC467D55A901}"/>
              </a:ext>
            </a:extLst>
          </p:cNvPr>
          <p:cNvSpPr txBox="1"/>
          <p:nvPr/>
        </p:nvSpPr>
        <p:spPr>
          <a:xfrm>
            <a:off x="7440260" y="2870075"/>
            <a:ext cx="38825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noProof="0" dirty="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Frequency bin width:</a:t>
            </a:r>
          </a:p>
        </p:txBody>
      </p:sp>
      <p:sp>
        <p:nvSpPr>
          <p:cNvPr id="6" name="Google Shape;98;p4">
            <a:extLst>
              <a:ext uri="{FF2B5EF4-FFF2-40B4-BE49-F238E27FC236}">
                <a16:creationId xmlns:a16="http://schemas.microsoft.com/office/drawing/2014/main" id="{7963516D-2E3F-3AD7-B29B-87AD9C35D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Periodogram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E45F1D9C-7A28-9655-B9F0-CADD21BE4C02}"/>
                  </a:ext>
                </a:extLst>
              </p:cNvPr>
              <p:cNvSpPr/>
              <p:nvPr/>
            </p:nvSpPr>
            <p:spPr>
              <a:xfrm>
                <a:off x="238123" y="1336003"/>
                <a:ext cx="6057901" cy="1066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 dirty="0"/>
                  <a:t>MS spectrum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𝒎𝒔</m:t>
                        </m:r>
                      </m:sub>
                    </m:sSub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b="1" noProof="0" dirty="0"/>
                  <a:t> unit is Watts</a:t>
                </a:r>
              </a:p>
            </p:txBody>
          </p:sp>
        </mc:Choice>
        <mc:Fallback xmlns=""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id="{E45F1D9C-7A28-9655-B9F0-CADD21BE4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3" y="1336003"/>
                <a:ext cx="6057901" cy="1066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7830FE70-7BA0-344A-FDD1-BCDBE5708058}"/>
                  </a:ext>
                </a:extLst>
              </p:cNvPr>
              <p:cNvSpPr/>
              <p:nvPr/>
            </p:nvSpPr>
            <p:spPr>
              <a:xfrm>
                <a:off x="7184229" y="1350929"/>
                <a:ext cx="3565067" cy="1029296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24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𝒎𝒔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𝒌</m:t>
                          </m:r>
                        </m:e>
                      </m:d>
                      <m:r>
                        <a:rPr lang="en-US" sz="2400" b="1" i="1" noProof="0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p>
                        <m:sSupPr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𝑭𝑭𝑻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 noProof="0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 noProof="0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1" noProof="0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𝑵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400" b="1" i="1" noProof="0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1" i="1" noProof="0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𝒏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sz="24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𝑵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noProof="0" dirty="0">
                  <a:cs typeface="Arial"/>
                </a:endParaRPr>
              </a:p>
            </p:txBody>
          </p:sp>
        </mc:Choice>
        <mc:Fallback xmlns=""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7830FE70-7BA0-344A-FDD1-BCDBE5708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229" y="1350929"/>
                <a:ext cx="3565067" cy="10292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8121550-205A-63E4-4F0E-0B2EC4D6D721}"/>
              </a:ext>
            </a:extLst>
          </p:cNvPr>
          <p:cNvSpPr/>
          <p:nvPr/>
        </p:nvSpPr>
        <p:spPr>
          <a:xfrm>
            <a:off x="238123" y="2551121"/>
            <a:ext cx="6057900" cy="74357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We want the density in watts per hertz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05EAD5EC-E821-B4EC-B325-84BB0D1EDDC0}"/>
                  </a:ext>
                </a:extLst>
              </p:cNvPr>
              <p:cNvSpPr/>
              <p:nvPr/>
            </p:nvSpPr>
            <p:spPr>
              <a:xfrm>
                <a:off x="973415" y="3471525"/>
                <a:ext cx="4467223" cy="1066800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𝒎𝒔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𝒌</m:t>
                              </m:r>
                            </m:e>
                          </m:d>
                        </m:e>
                      </m:nary>
                      <m:r>
                        <a:rPr lang="en-US" sz="2800" b="1" i="1" noProof="0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𝑺</m:t>
                              </m:r>
                            </m:e>
                          </m:acc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[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𝒌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]⋅</m:t>
                          </m:r>
                          <m:r>
                            <a:rPr lang="en-US" sz="2800" b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𝚫</m:t>
                          </m:r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𝒇</m:t>
                          </m:r>
                        </m:e>
                      </m:nary>
                    </m:oMath>
                  </m:oMathPara>
                </a14:m>
                <a:endParaRPr lang="en-US" sz="2800" b="1" noProof="0" dirty="0">
                  <a:cs typeface="Arial"/>
                </a:endParaRPr>
              </a:p>
            </p:txBody>
          </p:sp>
        </mc:Choice>
        <mc:Fallback xmlns=""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05EAD5EC-E821-B4EC-B325-84BB0D1ED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15" y="3471525"/>
                <a:ext cx="4467223" cy="10668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30106C8-FF49-B1D7-512D-1F834DC3619B}"/>
              </a:ext>
            </a:extLst>
          </p:cNvPr>
          <p:cNvSpPr/>
          <p:nvPr/>
        </p:nvSpPr>
        <p:spPr>
          <a:xfrm>
            <a:off x="1735415" y="4620586"/>
            <a:ext cx="647700" cy="44671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W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4D61BE6-62C3-6F96-7AB6-D227D937BBD7}"/>
              </a:ext>
            </a:extLst>
          </p:cNvPr>
          <p:cNvSpPr/>
          <p:nvPr/>
        </p:nvSpPr>
        <p:spPr>
          <a:xfrm>
            <a:off x="3426106" y="4620586"/>
            <a:ext cx="1014411" cy="446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W/</a:t>
            </a:r>
            <a:r>
              <a:rPr lang="en-US" sz="2000" b="1" noProof="0" dirty="0" err="1"/>
              <a:t>hz</a:t>
            </a:r>
            <a:endParaRPr lang="en-US" sz="2000" b="1" noProof="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F2BA616-77BF-C593-DDE2-8140B0CDB9D6}"/>
              </a:ext>
            </a:extLst>
          </p:cNvPr>
          <p:cNvSpPr/>
          <p:nvPr/>
        </p:nvSpPr>
        <p:spPr>
          <a:xfrm>
            <a:off x="4665108" y="4602497"/>
            <a:ext cx="636663" cy="446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 err="1"/>
              <a:t>hz</a:t>
            </a:r>
            <a:endParaRPr lang="en-US" sz="20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tângulo: Cantos Arredondados 60">
                <a:extLst>
                  <a:ext uri="{FF2B5EF4-FFF2-40B4-BE49-F238E27FC236}">
                    <a16:creationId xmlns:a16="http://schemas.microsoft.com/office/drawing/2014/main" id="{CFB3B105-E704-A43F-5DD0-E4D014B30CE6}"/>
                  </a:ext>
                </a:extLst>
              </p:cNvPr>
              <p:cNvSpPr/>
              <p:nvPr/>
            </p:nvSpPr>
            <p:spPr>
              <a:xfrm>
                <a:off x="6296023" y="3512233"/>
                <a:ext cx="5341481" cy="1066800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𝑺</m:t>
                        </m:r>
                      </m:e>
                    </m:acc>
                    <m:d>
                      <m:dPr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𝒇</m:t>
                        </m:r>
                      </m:e>
                    </m:d>
                    <m:r>
                      <a:rPr lang="en-US" sz="2800" b="1" i="1" noProof="0" smtClean="0">
                        <a:latin typeface="Cambria Math" panose="02040503050406030204" pitchFamily="18" charset="0"/>
                        <a:cs typeface="Arial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𝑺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𝒌</m:t>
                        </m:r>
                      </m:e>
                    </m:d>
                    <m:r>
                      <a:rPr lang="en-US" sz="2800" b="1" i="1" noProof="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</m:oMath>
                </a14:m>
                <a:r>
                  <a:rPr lang="en-US" sz="2800" b="1" noProof="0" dirty="0">
                    <a:cs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800" b="1" i="1" noProof="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2800" b="1" i="1" noProof="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  <m:t>𝒎𝒔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  <m:t>𝒌</m:t>
                            </m:r>
                          </m:e>
                        </m:d>
                      </m:num>
                      <m:den>
                        <m:r>
                          <a:rPr lang="en-US" sz="2800" b="1" i="0" noProof="0" smtClean="0">
                            <a:latin typeface="Cambria Math" panose="02040503050406030204" pitchFamily="18" charset="0"/>
                            <a:cs typeface="Arial"/>
                          </a:rPr>
                          <m:t>𝚫</m:t>
                        </m:r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𝒇</m:t>
                        </m:r>
                      </m:den>
                    </m:f>
                  </m:oMath>
                </a14:m>
                <a:r>
                  <a:rPr lang="en-US" sz="2800" b="1" noProof="0" dirty="0"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noProof="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𝑵</m:t>
                        </m:r>
                      </m:num>
                      <m:den>
                        <m:sSub>
                          <m:sSubPr>
                            <m:ctrlP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  <m:t>𝑭</m:t>
                            </m:r>
                          </m:e>
                          <m:sub>
                            <m: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  <m:t>𝒔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2800" b="1" i="1" noProof="0" smtClean="0">
                                <a:latin typeface="Cambria Math" panose="02040503050406030204" pitchFamily="18" charset="0"/>
                                <a:cs typeface="Arial"/>
                              </a:rPr>
                              <m:t>𝑺</m:t>
                            </m:r>
                          </m:e>
                        </m:acc>
                      </m:e>
                      <m:sub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𝒎𝒔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2800" b="1" i="1" noProof="0" smtClean="0">
                            <a:latin typeface="Cambria Math" panose="02040503050406030204" pitchFamily="18" charset="0"/>
                            <a:cs typeface="Arial"/>
                          </a:rPr>
                          <m:t>𝒌</m:t>
                        </m:r>
                      </m:e>
                    </m:d>
                  </m:oMath>
                </a14:m>
                <a:endParaRPr lang="en-US" sz="2800" b="1" noProof="0" dirty="0">
                  <a:cs typeface="Arial"/>
                </a:endParaRPr>
              </a:p>
            </p:txBody>
          </p:sp>
        </mc:Choice>
        <mc:Fallback xmlns="">
          <p:sp>
            <p:nvSpPr>
              <p:cNvPr id="61" name="Retângulo: Cantos Arredondados 60">
                <a:extLst>
                  <a:ext uri="{FF2B5EF4-FFF2-40B4-BE49-F238E27FC236}">
                    <a16:creationId xmlns:a16="http://schemas.microsoft.com/office/drawing/2014/main" id="{CFB3B105-E704-A43F-5DD0-E4D014B30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23" y="3512233"/>
                <a:ext cx="5341481" cy="10668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tângulo: Cantos Arredondados 61">
                <a:extLst>
                  <a:ext uri="{FF2B5EF4-FFF2-40B4-BE49-F238E27FC236}">
                    <a16:creationId xmlns:a16="http://schemas.microsoft.com/office/drawing/2014/main" id="{7EFFF53F-92F8-A2CC-34A9-4487C43A8617}"/>
                  </a:ext>
                </a:extLst>
              </p:cNvPr>
              <p:cNvSpPr/>
              <p:nvPr/>
            </p:nvSpPr>
            <p:spPr>
              <a:xfrm>
                <a:off x="6305551" y="5484493"/>
                <a:ext cx="5331953" cy="1066800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𝑺</m:t>
                          </m:r>
                        </m:e>
                      </m:acc>
                      <m:d>
                        <m:dPr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𝒇</m:t>
                          </m:r>
                        </m:e>
                      </m:d>
                      <m:r>
                        <a:rPr lang="en-US" sz="2400" b="1" i="1" noProof="0" smtClean="0">
                          <a:latin typeface="Cambria Math" panose="02040503050406030204" pitchFamily="18" charset="0"/>
                          <a:cs typeface="Arial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𝑺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𝒌</m:t>
                          </m:r>
                        </m:e>
                      </m:d>
                      <m:r>
                        <a:rPr lang="en-US" sz="2400" b="1" i="1" noProof="0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𝑵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 </m:t>
                          </m:r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𝑩𝑾</m:t>
                          </m:r>
                        </m:den>
                      </m:f>
                      <m:sSup>
                        <m:sSupPr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2400" b="1" i="1" noProof="0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𝑭𝑭𝑻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1" i="1" noProof="0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𝑵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 noProof="0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𝒏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  <a:cs typeface="Arial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noProof="0" dirty="0">
                  <a:cs typeface="Arial"/>
                </a:endParaRPr>
              </a:p>
            </p:txBody>
          </p:sp>
        </mc:Choice>
        <mc:Fallback xmlns="">
          <p:sp>
            <p:nvSpPr>
              <p:cNvPr id="62" name="Retângulo: Cantos Arredondados 61">
                <a:extLst>
                  <a:ext uri="{FF2B5EF4-FFF2-40B4-BE49-F238E27FC236}">
                    <a16:creationId xmlns:a16="http://schemas.microsoft.com/office/drawing/2014/main" id="{7EFFF53F-92F8-A2CC-34A9-4487C43A86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1" y="5484493"/>
                <a:ext cx="5331953" cy="10668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D0AB46A-977B-4ED5-74AE-C81E1A835AA3}"/>
              </a:ext>
            </a:extLst>
          </p:cNvPr>
          <p:cNvSpPr/>
          <p:nvPr/>
        </p:nvSpPr>
        <p:spPr>
          <a:xfrm>
            <a:off x="7048498" y="4658569"/>
            <a:ext cx="3836530" cy="74357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Periodogram definition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724D0F7-2D9C-4318-7DE8-EEDD407EB33E}"/>
              </a:ext>
            </a:extLst>
          </p:cNvPr>
          <p:cNvSpPr/>
          <p:nvPr/>
        </p:nvSpPr>
        <p:spPr>
          <a:xfrm>
            <a:off x="645733" y="5246990"/>
            <a:ext cx="5122585" cy="1066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Since the periodogram does not learn parameters, it is a non-parametric estimator</a:t>
            </a:r>
          </a:p>
        </p:txBody>
      </p:sp>
    </p:spTree>
    <p:extLst>
      <p:ext uri="{BB962C8B-B14F-4D97-AF65-F5344CB8AC3E}">
        <p14:creationId xmlns:p14="http://schemas.microsoft.com/office/powerpoint/2010/main" val="92343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933C9DB-B505-48BA-2500-9DC6C696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m 79">
            <a:extLst>
              <a:ext uri="{FF2B5EF4-FFF2-40B4-BE49-F238E27FC236}">
                <a16:creationId xmlns:a16="http://schemas.microsoft.com/office/drawing/2014/main" id="{9E927060-7358-9465-949A-F03AE4E0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765" y="4014477"/>
            <a:ext cx="6334113" cy="2881623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BB24B84D-4EB7-890E-6BDB-EC93FF0B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29" r="8991" b="9088"/>
          <a:stretch>
            <a:fillRect/>
          </a:stretch>
        </p:blipFill>
        <p:spPr>
          <a:xfrm>
            <a:off x="46089" y="1978937"/>
            <a:ext cx="5745111" cy="2433275"/>
          </a:xfrm>
          <a:prstGeom prst="rect">
            <a:avLst/>
          </a:prstGeom>
        </p:spPr>
      </p:pic>
      <p:sp>
        <p:nvSpPr>
          <p:cNvPr id="3" name="Google Shape;53;p7">
            <a:extLst>
              <a:ext uri="{FF2B5EF4-FFF2-40B4-BE49-F238E27FC236}">
                <a16:creationId xmlns:a16="http://schemas.microsoft.com/office/drawing/2014/main" id="{81467635-A85F-6945-3162-597E3CA033F5}"/>
              </a:ext>
            </a:extLst>
          </p:cNvPr>
          <p:cNvSpPr txBox="1"/>
          <p:nvPr/>
        </p:nvSpPr>
        <p:spPr bwMode="auto">
          <a:xfrm>
            <a:off x="0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92576F06-D40C-238B-7999-BA5F4F74EC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3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6" name="Google Shape;98;p4">
            <a:extLst>
              <a:ext uri="{FF2B5EF4-FFF2-40B4-BE49-F238E27FC236}">
                <a16:creationId xmlns:a16="http://schemas.microsoft.com/office/drawing/2014/main" id="{FA93D741-3E3F-B563-AA8D-E43326021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" y="492755"/>
            <a:ext cx="8550353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Welch: averages of periodograms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25763CD9-D64C-7833-CF4A-2344EADB9F0D}"/>
                  </a:ext>
                </a:extLst>
              </p:cNvPr>
              <p:cNvSpPr/>
              <p:nvPr/>
            </p:nvSpPr>
            <p:spPr>
              <a:xfrm>
                <a:off x="238123" y="1099778"/>
                <a:ext cx="11658602" cy="6112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noProof="0" dirty="0"/>
                  <a:t>One periodogram is one estimate/measurement of </a:t>
                </a:r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n-US" sz="2400" b="1" noProof="0" dirty="0"/>
                  <a:t> of a random process</a:t>
                </a:r>
              </a:p>
            </p:txBody>
          </p:sp>
        </mc:Choice>
        <mc:Fallback xmlns=""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25763CD9-D64C-7833-CF4A-2344EADB9F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3" y="1099778"/>
                <a:ext cx="11658602" cy="611294"/>
              </a:xfrm>
              <a:prstGeom prst="round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484924A7-55B4-F4D8-F70C-8108C9721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690253"/>
            <a:ext cx="6341789" cy="2571067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29E579EB-4C0B-CC2F-E89C-4ED523DE35DD}"/>
              </a:ext>
            </a:extLst>
          </p:cNvPr>
          <p:cNvSpPr/>
          <p:nvPr/>
        </p:nvSpPr>
        <p:spPr>
          <a:xfrm>
            <a:off x="114300" y="2178555"/>
            <a:ext cx="2552700" cy="2236924"/>
          </a:xfrm>
          <a:prstGeom prst="rect">
            <a:avLst/>
          </a:prstGeom>
          <a:noFill/>
          <a:ln w="762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FDE8067-E698-8342-22BB-7FE0600A87B8}"/>
              </a:ext>
            </a:extLst>
          </p:cNvPr>
          <p:cNvSpPr/>
          <p:nvPr/>
        </p:nvSpPr>
        <p:spPr>
          <a:xfrm>
            <a:off x="1772834" y="2064396"/>
            <a:ext cx="2552700" cy="2236924"/>
          </a:xfrm>
          <a:prstGeom prst="rect">
            <a:avLst/>
          </a:prstGeom>
          <a:noFill/>
          <a:ln w="762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373FD23-4185-6CAB-A1A9-063A0547876F}"/>
              </a:ext>
            </a:extLst>
          </p:cNvPr>
          <p:cNvSpPr/>
          <p:nvPr/>
        </p:nvSpPr>
        <p:spPr>
          <a:xfrm>
            <a:off x="3352796" y="2215288"/>
            <a:ext cx="2552700" cy="2236924"/>
          </a:xfrm>
          <a:prstGeom prst="rect">
            <a:avLst/>
          </a:prstGeom>
          <a:noFill/>
          <a:ln w="762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C4ECD3B-99C3-8FD6-4567-1C637BEDBEFF}"/>
              </a:ext>
            </a:extLst>
          </p:cNvPr>
          <p:cNvSpPr/>
          <p:nvPr/>
        </p:nvSpPr>
        <p:spPr>
          <a:xfrm>
            <a:off x="114300" y="4809621"/>
            <a:ext cx="4969665" cy="184756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Welch’s improves variance by averaging the power over shorter windows, sacrificing frequency resolution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B0A6CE5-136C-656C-8528-C9D079F99F50}"/>
              </a:ext>
            </a:extLst>
          </p:cNvPr>
          <p:cNvSpPr/>
          <p:nvPr/>
        </p:nvSpPr>
        <p:spPr>
          <a:xfrm>
            <a:off x="10179839" y="1909326"/>
            <a:ext cx="1786956" cy="9788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One estimate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F92E2BD-9EAF-F044-E031-F22A6F8B3A34}"/>
              </a:ext>
            </a:extLst>
          </p:cNvPr>
          <p:cNvSpPr/>
          <p:nvPr/>
        </p:nvSpPr>
        <p:spPr>
          <a:xfrm>
            <a:off x="10203232" y="4114864"/>
            <a:ext cx="1786956" cy="147386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Multiple combined</a:t>
            </a:r>
          </a:p>
          <a:p>
            <a:pPr algn="ctr"/>
            <a:r>
              <a:rPr lang="en-US" sz="2400" b="1" noProof="0" dirty="0"/>
              <a:t>estimates</a:t>
            </a:r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4672045F-9478-50F1-C4C5-BED041341EC4}"/>
              </a:ext>
            </a:extLst>
          </p:cNvPr>
          <p:cNvCxnSpPr>
            <a:cxnSpLocks/>
          </p:cNvCxnSpPr>
          <p:nvPr/>
        </p:nvCxnSpPr>
        <p:spPr>
          <a:xfrm>
            <a:off x="5457825" y="4079670"/>
            <a:ext cx="894843" cy="52167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7DD32F71-2423-4209-F59A-43F7B3551D3A}"/>
              </a:ext>
            </a:extLst>
          </p:cNvPr>
          <p:cNvCxnSpPr>
            <a:cxnSpLocks/>
          </p:cNvCxnSpPr>
          <p:nvPr/>
        </p:nvCxnSpPr>
        <p:spPr>
          <a:xfrm>
            <a:off x="3971069" y="4027837"/>
            <a:ext cx="2381599" cy="7785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5A152DF4-0E86-9BED-B67B-369A7E1CC63F}"/>
              </a:ext>
            </a:extLst>
          </p:cNvPr>
          <p:cNvCxnSpPr>
            <a:cxnSpLocks/>
          </p:cNvCxnSpPr>
          <p:nvPr/>
        </p:nvCxnSpPr>
        <p:spPr>
          <a:xfrm>
            <a:off x="1505029" y="4221658"/>
            <a:ext cx="4895773" cy="79341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60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59EEF3A-46DF-D32F-F2C6-1C6EBBD1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8B74FAEF-8FC7-260D-5A18-B9B927C201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4</a:t>
            </a:fld>
            <a:endParaRPr lang="en-US" noProof="0" dirty="0">
              <a:solidFill>
                <a:schemeClr val="lt1"/>
              </a:solidFill>
            </a:endParaRPr>
          </a:p>
        </p:txBody>
      </p:sp>
      <p:pic>
        <p:nvPicPr>
          <p:cNvPr id="14" name="Picture 13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A7BD9046-3A79-EECA-6E03-9EA8C7A63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43" y="485546"/>
            <a:ext cx="1531713" cy="5529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BF0C2-B70B-D247-9048-3069D36B88CC}"/>
              </a:ext>
            </a:extLst>
          </p:cNvPr>
          <p:cNvSpPr txBox="1"/>
          <p:nvPr/>
        </p:nvSpPr>
        <p:spPr>
          <a:xfrm>
            <a:off x="8294118" y="43906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noProof="0" dirty="0" err="1">
                <a:cs typeface="Arial"/>
              </a:rPr>
              <a:t>nperseg</a:t>
            </a:r>
            <a:r>
              <a:rPr lang="en-US" noProof="0" dirty="0">
                <a:cs typeface="Arial"/>
              </a:rPr>
              <a:t> = 1024</a:t>
            </a:r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AF40E0-349F-D4D3-A432-F6CC25A2F883}"/>
              </a:ext>
            </a:extLst>
          </p:cNvPr>
          <p:cNvSpPr txBox="1"/>
          <p:nvPr/>
        </p:nvSpPr>
        <p:spPr>
          <a:xfrm>
            <a:off x="3518918" y="508099"/>
            <a:ext cx="38825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noProof="0" dirty="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Frequency bin width:</a:t>
            </a:r>
          </a:p>
        </p:txBody>
      </p:sp>
      <p:sp>
        <p:nvSpPr>
          <p:cNvPr id="13" name="Google Shape;53;p7">
            <a:extLst>
              <a:ext uri="{FF2B5EF4-FFF2-40B4-BE49-F238E27FC236}">
                <a16:creationId xmlns:a16="http://schemas.microsoft.com/office/drawing/2014/main" id="{D90E5A77-70A4-E5DC-8B5B-09E289DFED07}"/>
              </a:ext>
            </a:extLst>
          </p:cNvPr>
          <p:cNvSpPr txBox="1"/>
          <p:nvPr/>
        </p:nvSpPr>
        <p:spPr bwMode="auto">
          <a:xfrm>
            <a:off x="-2041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548;p34">
            <a:extLst>
              <a:ext uri="{FF2B5EF4-FFF2-40B4-BE49-F238E27FC236}">
                <a16:creationId xmlns:a16="http://schemas.microsoft.com/office/drawing/2014/main" id="{AC0DD351-2CA6-BECD-A013-7CD3DFEC206E}"/>
              </a:ext>
            </a:extLst>
          </p:cNvPr>
          <p:cNvSpPr txBox="1">
            <a:spLocks/>
          </p:cNvSpPr>
          <p:nvPr/>
        </p:nvSpPr>
        <p:spPr bwMode="auto">
          <a:xfrm>
            <a:off x="11739554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4</a:t>
            </a:fld>
            <a:endParaRPr lang="en-US" noProof="0" dirty="0">
              <a:solidFill>
                <a:schemeClr val="lt1"/>
              </a:solidFill>
            </a:endParaRPr>
          </a:p>
        </p:txBody>
      </p:sp>
      <p:pic>
        <p:nvPicPr>
          <p:cNvPr id="2" name="Picture 1" descr="A blue and orange graph&#10;&#10;AI-generated content may be incorrect.">
            <a:extLst>
              <a:ext uri="{FF2B5EF4-FFF2-40B4-BE49-F238E27FC236}">
                <a16:creationId xmlns:a16="http://schemas.microsoft.com/office/drawing/2014/main" id="{405FBF97-9B3D-B6EE-FE79-F442B32FC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21" y="1067479"/>
            <a:ext cx="5949497" cy="2741841"/>
          </a:xfrm>
          <a:prstGeom prst="rect">
            <a:avLst/>
          </a:prstGeom>
        </p:spPr>
      </p:pic>
      <p:pic>
        <p:nvPicPr>
          <p:cNvPr id="3" name="Picture 2" descr="A blue and orange graph&#10;&#10;AI-generated content may be incorrect.">
            <a:extLst>
              <a:ext uri="{FF2B5EF4-FFF2-40B4-BE49-F238E27FC236}">
                <a16:creationId xmlns:a16="http://schemas.microsoft.com/office/drawing/2014/main" id="{310E1A4F-06E7-DB9B-7B42-BDE64D65F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266" y="1040266"/>
            <a:ext cx="5942240" cy="2821668"/>
          </a:xfrm>
          <a:prstGeom prst="rect">
            <a:avLst/>
          </a:prstGeom>
        </p:spPr>
      </p:pic>
      <p:pic>
        <p:nvPicPr>
          <p:cNvPr id="5" name="Picture 4" descr="A graph of a sound wave&#10;&#10;AI-generated content may be incorrect.">
            <a:extLst>
              <a:ext uri="{FF2B5EF4-FFF2-40B4-BE49-F238E27FC236}">
                <a16:creationId xmlns:a16="http://schemas.microsoft.com/office/drawing/2014/main" id="{6FBF63AF-D641-0653-C29E-BBE387597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894" y="3612923"/>
            <a:ext cx="5934982" cy="2828926"/>
          </a:xfrm>
          <a:prstGeom prst="rect">
            <a:avLst/>
          </a:prstGeom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E0F71AA6-A125-2FA5-49D0-1A4E2F5739C7}"/>
              </a:ext>
            </a:extLst>
          </p:cNvPr>
          <p:cNvSpPr txBox="1"/>
          <p:nvPr/>
        </p:nvSpPr>
        <p:spPr>
          <a:xfrm>
            <a:off x="2597261" y="169101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 err="1">
                <a:cs typeface="Arial"/>
              </a:rPr>
              <a:t>nperseg</a:t>
            </a:r>
            <a:r>
              <a:rPr lang="en-US" noProof="0" dirty="0">
                <a:cs typeface="Arial"/>
              </a:rPr>
              <a:t> = 128</a:t>
            </a:r>
            <a:endParaRPr lang="en-US" noProof="0" dirty="0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3D80ABD7-99AF-2432-A43B-EA2087E0680A}"/>
              </a:ext>
            </a:extLst>
          </p:cNvPr>
          <p:cNvSpPr txBox="1"/>
          <p:nvPr/>
        </p:nvSpPr>
        <p:spPr>
          <a:xfrm>
            <a:off x="8294118" y="1691012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 err="1">
                <a:cs typeface="Arial"/>
              </a:rPr>
              <a:t>nperseg</a:t>
            </a:r>
            <a:r>
              <a:rPr lang="en-US" noProof="0" dirty="0">
                <a:cs typeface="Arial"/>
              </a:rPr>
              <a:t> = 256</a:t>
            </a:r>
            <a:endParaRPr lang="en-US" noProof="0" dirty="0"/>
          </a:p>
        </p:txBody>
      </p:sp>
      <p:pic>
        <p:nvPicPr>
          <p:cNvPr id="21" name="Picture 20" descr="A blue and orange line graph&#10;&#10;AI-generated content may be incorrect.">
            <a:extLst>
              <a:ext uri="{FF2B5EF4-FFF2-40B4-BE49-F238E27FC236}">
                <a16:creationId xmlns:a16="http://schemas.microsoft.com/office/drawing/2014/main" id="{4F6203AE-4BBD-3A09-2C07-107A127510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96" b="202"/>
          <a:stretch>
            <a:fillRect/>
          </a:stretch>
        </p:blipFill>
        <p:spPr>
          <a:xfrm>
            <a:off x="180975" y="3617232"/>
            <a:ext cx="6067893" cy="2816663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66FB980A-7AB2-94BF-907C-D5692FCDF352}"/>
              </a:ext>
            </a:extLst>
          </p:cNvPr>
          <p:cNvSpPr txBox="1"/>
          <p:nvPr/>
        </p:nvSpPr>
        <p:spPr>
          <a:xfrm>
            <a:off x="2597260" y="4390670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 err="1">
                <a:cs typeface="Arial"/>
              </a:rPr>
              <a:t>nperseg</a:t>
            </a:r>
            <a:r>
              <a:rPr lang="en-US" noProof="0" dirty="0">
                <a:cs typeface="Arial"/>
              </a:rPr>
              <a:t> = 512</a:t>
            </a:r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251EF6-A638-A8DB-6310-E99CC1A00823}"/>
              </a:ext>
            </a:extLst>
          </p:cNvPr>
          <p:cNvSpPr txBox="1"/>
          <p:nvPr/>
        </p:nvSpPr>
        <p:spPr>
          <a:xfrm>
            <a:off x="8294117" y="439066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noProof="0" dirty="0" err="1">
                <a:cs typeface="Arial"/>
              </a:rPr>
              <a:t>nperseg</a:t>
            </a:r>
            <a:r>
              <a:rPr lang="en-US" noProof="0" dirty="0">
                <a:cs typeface="Arial"/>
              </a:rPr>
              <a:t> = 1024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272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27D467-983D-E2E8-FBD7-9D926CCE9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549B990C-FD88-B10D-5A69-9DAB71F0A2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5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3" name="Google Shape;53;p7">
            <a:extLst>
              <a:ext uri="{FF2B5EF4-FFF2-40B4-BE49-F238E27FC236}">
                <a16:creationId xmlns:a16="http://schemas.microsoft.com/office/drawing/2014/main" id="{DA29A0D1-159D-5B32-D3C6-530460D2A22E}"/>
              </a:ext>
            </a:extLst>
          </p:cNvPr>
          <p:cNvSpPr txBox="1"/>
          <p:nvPr/>
        </p:nvSpPr>
        <p:spPr bwMode="auto">
          <a:xfrm>
            <a:off x="-2041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548;p34">
            <a:extLst>
              <a:ext uri="{FF2B5EF4-FFF2-40B4-BE49-F238E27FC236}">
                <a16:creationId xmlns:a16="http://schemas.microsoft.com/office/drawing/2014/main" id="{5BAA7F0D-4D2F-E419-2AF0-6F6268F5D080}"/>
              </a:ext>
            </a:extLst>
          </p:cNvPr>
          <p:cNvSpPr txBox="1">
            <a:spLocks/>
          </p:cNvSpPr>
          <p:nvPr/>
        </p:nvSpPr>
        <p:spPr bwMode="auto">
          <a:xfrm>
            <a:off x="11739554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5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Google Shape;98;p4">
            <a:extLst>
              <a:ext uri="{FF2B5EF4-FFF2-40B4-BE49-F238E27FC236}">
                <a16:creationId xmlns:a16="http://schemas.microsoft.com/office/drawing/2014/main" id="{C66401A4-7ADD-7F7D-FFA6-405A5DDFB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" y="492755"/>
            <a:ext cx="11370991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Filtering white noise shapes the noise spectrum like the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93E55D75-59A7-0CEC-3E3A-596C0F3E2587}"/>
                  </a:ext>
                </a:extLst>
              </p:cNvPr>
              <p:cNvSpPr/>
              <p:nvPr/>
            </p:nvSpPr>
            <p:spPr>
              <a:xfrm>
                <a:off x="1309688" y="5116693"/>
                <a:ext cx="1609725" cy="876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noProof="0" dirty="0"/>
              </a:p>
            </p:txBody>
          </p:sp>
        </mc:Choice>
        <mc:Fallback xmlns=""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93E55D75-59A7-0CEC-3E3A-596C0F3E2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88" y="5116693"/>
                <a:ext cx="1609725" cy="8763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m 14">
            <a:extLst>
              <a:ext uri="{FF2B5EF4-FFF2-40B4-BE49-F238E27FC236}">
                <a16:creationId xmlns:a16="http://schemas.microsoft.com/office/drawing/2014/main" id="{E2A393A0-28BE-0F7B-8EF9-11408E8BE4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43" t="6801" b="5237"/>
          <a:stretch>
            <a:fillRect/>
          </a:stretch>
        </p:blipFill>
        <p:spPr>
          <a:xfrm>
            <a:off x="161611" y="1416596"/>
            <a:ext cx="4829175" cy="3384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551BC0A4-3209-8C52-4081-520717612D47}"/>
                  </a:ext>
                </a:extLst>
              </p:cNvPr>
              <p:cNvSpPr/>
              <p:nvPr/>
            </p:nvSpPr>
            <p:spPr>
              <a:xfrm>
                <a:off x="7930319" y="5116693"/>
                <a:ext cx="3741811" cy="876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d>
                                <m:dPr>
                                  <m:ctrlPr>
                                    <a:rPr lang="en-US" sz="28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noProof="0" dirty="0"/>
              </a:p>
            </p:txBody>
          </p:sp>
        </mc:Choice>
        <mc:Fallback xmlns="">
          <p:sp>
            <p:nvSpPr>
              <p:cNvPr id="16" name="Retângulo: Cantos Arredondados 15">
                <a:extLst>
                  <a:ext uri="{FF2B5EF4-FFF2-40B4-BE49-F238E27FC236}">
                    <a16:creationId xmlns:a16="http://schemas.microsoft.com/office/drawing/2014/main" id="{551BC0A4-3209-8C52-4081-520717612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19" y="5116693"/>
                <a:ext cx="3741811" cy="8763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m 17">
            <a:extLst>
              <a:ext uri="{FF2B5EF4-FFF2-40B4-BE49-F238E27FC236}">
                <a16:creationId xmlns:a16="http://schemas.microsoft.com/office/drawing/2014/main" id="{4A37E485-A8CC-FB27-BBDD-F3DD835110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" t="7377" b="6558"/>
          <a:stretch>
            <a:fillRect/>
          </a:stretch>
        </p:blipFill>
        <p:spPr>
          <a:xfrm>
            <a:off x="4555667" y="2170816"/>
            <a:ext cx="3076575" cy="200025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5BE7086-F4A3-C215-D8C7-F31DEB60D0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081" t="5856" b="4311"/>
          <a:stretch>
            <a:fillRect/>
          </a:stretch>
        </p:blipFill>
        <p:spPr>
          <a:xfrm>
            <a:off x="7432221" y="1343024"/>
            <a:ext cx="4902970" cy="35937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75A0C218-E9DE-E9E7-BEB6-549E2C2906D6}"/>
                  </a:ext>
                </a:extLst>
              </p:cNvPr>
              <p:cNvSpPr/>
              <p:nvPr/>
            </p:nvSpPr>
            <p:spPr>
              <a:xfrm>
                <a:off x="5188975" y="5116693"/>
                <a:ext cx="1609725" cy="876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noProof="0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d>
                                <m:dPr>
                                  <m:ctrlPr>
                                    <a:rPr lang="en-US" sz="28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 noProof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noProof="0" dirty="0"/>
              </a:p>
            </p:txBody>
          </p:sp>
        </mc:Choice>
        <mc:Fallback xmlns=""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75A0C218-E9DE-E9E7-BEB6-549E2C290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975" y="5116693"/>
                <a:ext cx="1609725" cy="8763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F1D77B8-C222-3CE2-52E9-0D6026CD10F7}"/>
              </a:ext>
            </a:extLst>
          </p:cNvPr>
          <p:cNvSpPr/>
          <p:nvPr/>
        </p:nvSpPr>
        <p:spPr>
          <a:xfrm>
            <a:off x="1099674" y="6221173"/>
            <a:ext cx="2371725" cy="523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White noise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3787535-3CA5-39C9-1A84-30BA18F90567}"/>
              </a:ext>
            </a:extLst>
          </p:cNvPr>
          <p:cNvSpPr/>
          <p:nvPr/>
        </p:nvSpPr>
        <p:spPr>
          <a:xfrm>
            <a:off x="8516278" y="6258599"/>
            <a:ext cx="2371725" cy="523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Colored noise</a:t>
            </a:r>
          </a:p>
        </p:txBody>
      </p:sp>
    </p:spTree>
    <p:extLst>
      <p:ext uri="{BB962C8B-B14F-4D97-AF65-F5344CB8AC3E}">
        <p14:creationId xmlns:p14="http://schemas.microsoft.com/office/powerpoint/2010/main" val="126401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A766CF7-95E5-4344-13A8-1E6F8FA1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17B177AA-09A1-7885-2AC3-A512DCAB0269}"/>
              </a:ext>
            </a:extLst>
          </p:cNvPr>
          <p:cNvSpPr/>
          <p:nvPr/>
        </p:nvSpPr>
        <p:spPr>
          <a:xfrm>
            <a:off x="166546" y="5941744"/>
            <a:ext cx="5140715" cy="84700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AR model is widely used in speech coding to mimic voice spectrum</a:t>
            </a:r>
          </a:p>
        </p:txBody>
      </p:sp>
      <p:pic>
        <p:nvPicPr>
          <p:cNvPr id="112" name="Imagem 111" descr="PIC">
            <a:extLst>
              <a:ext uri="{FF2B5EF4-FFF2-40B4-BE49-F238E27FC236}">
                <a16:creationId xmlns:a16="http://schemas.microsoft.com/office/drawing/2014/main" id="{AACCDA90-E944-73EB-CFE4-9FEF802DF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3" y="3212401"/>
            <a:ext cx="5215648" cy="2654993"/>
          </a:xfrm>
          <a:prstGeom prst="rect">
            <a:avLst/>
          </a:prstGeom>
        </p:spPr>
      </p:pic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12122D46-17BC-9F85-431F-7E7983D9201D}"/>
              </a:ext>
            </a:extLst>
          </p:cNvPr>
          <p:cNvSpPr/>
          <p:nvPr/>
        </p:nvSpPr>
        <p:spPr>
          <a:xfrm>
            <a:off x="1451333" y="4463643"/>
            <a:ext cx="2237684" cy="12217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chemeClr val="tx2">
                    <a:lumMod val="10000"/>
                  </a:schemeClr>
                </a:solidFill>
              </a:rPr>
              <a:t>Prediction filter</a:t>
            </a:r>
          </a:p>
        </p:txBody>
      </p:sp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1B4E3A06-1864-538F-FFB4-51127CC0DA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6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3" name="Google Shape;53;p7">
            <a:extLst>
              <a:ext uri="{FF2B5EF4-FFF2-40B4-BE49-F238E27FC236}">
                <a16:creationId xmlns:a16="http://schemas.microsoft.com/office/drawing/2014/main" id="{83998203-D072-7521-A1D3-C399AA076A02}"/>
              </a:ext>
            </a:extLst>
          </p:cNvPr>
          <p:cNvSpPr txBox="1"/>
          <p:nvPr/>
        </p:nvSpPr>
        <p:spPr bwMode="auto">
          <a:xfrm>
            <a:off x="-2041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548;p34">
            <a:extLst>
              <a:ext uri="{FF2B5EF4-FFF2-40B4-BE49-F238E27FC236}">
                <a16:creationId xmlns:a16="http://schemas.microsoft.com/office/drawing/2014/main" id="{2DD0DD2E-5417-FC87-E80D-659102E5718D}"/>
              </a:ext>
            </a:extLst>
          </p:cNvPr>
          <p:cNvSpPr txBox="1">
            <a:spLocks/>
          </p:cNvSpPr>
          <p:nvPr/>
        </p:nvSpPr>
        <p:spPr bwMode="auto">
          <a:xfrm>
            <a:off x="11739554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6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Google Shape;98;p4">
            <a:extLst>
              <a:ext uri="{FF2B5EF4-FFF2-40B4-BE49-F238E27FC236}">
                <a16:creationId xmlns:a16="http://schemas.microsoft.com/office/drawing/2014/main" id="{A8B58876-7D45-E490-06EE-E75122FD8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" y="492755"/>
            <a:ext cx="11904391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Autoregressive (AR) Modeling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BB633B0-367D-1845-3E41-9244A857AB12}"/>
              </a:ext>
            </a:extLst>
          </p:cNvPr>
          <p:cNvSpPr/>
          <p:nvPr/>
        </p:nvSpPr>
        <p:spPr>
          <a:xfrm>
            <a:off x="211590" y="1352550"/>
            <a:ext cx="1239743" cy="732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White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FF876FD8-B0A8-8844-1BE9-81DB56A13830}"/>
                  </a:ext>
                </a:extLst>
              </p:cNvPr>
              <p:cNvSpPr/>
              <p:nvPr/>
            </p:nvSpPr>
            <p:spPr>
              <a:xfrm>
                <a:off x="2202476" y="1352552"/>
                <a:ext cx="1893273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noProof="0" dirty="0"/>
              </a:p>
            </p:txBody>
          </p:sp>
        </mc:Choice>
        <mc:Fallback xmlns=""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FF876FD8-B0A8-8844-1BE9-81DB56A13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476" y="1352552"/>
                <a:ext cx="1893273" cy="73243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F13310E-1917-C7D7-7B1A-C2CEA39E9081}"/>
              </a:ext>
            </a:extLst>
          </p:cNvPr>
          <p:cNvSpPr/>
          <p:nvPr/>
        </p:nvSpPr>
        <p:spPr>
          <a:xfrm>
            <a:off x="4793154" y="1352550"/>
            <a:ext cx="1596041" cy="732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Colored noise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E149F39-A197-A6CA-5D1D-112984897C21}"/>
              </a:ext>
            </a:extLst>
          </p:cNvPr>
          <p:cNvSpPr/>
          <p:nvPr/>
        </p:nvSpPr>
        <p:spPr>
          <a:xfrm>
            <a:off x="9703461" y="1352550"/>
            <a:ext cx="1239743" cy="732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White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CB677908-8840-CDF4-EFA7-8DFFA1D2EA28}"/>
                  </a:ext>
                </a:extLst>
              </p:cNvPr>
              <p:cNvSpPr/>
              <p:nvPr/>
            </p:nvSpPr>
            <p:spPr>
              <a:xfrm>
                <a:off x="7086600" y="1352555"/>
                <a:ext cx="1857375" cy="73243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noProof="0" dirty="0"/>
              </a:p>
            </p:txBody>
          </p:sp>
        </mc:Choice>
        <mc:Fallback xmlns=""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CB677908-8840-CDF4-EFA7-8DFFA1D2EA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1352555"/>
                <a:ext cx="1857375" cy="73243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22626F43-96E1-A18E-5CAE-CAA6630EA61E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1451333" y="1718767"/>
            <a:ext cx="751143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62CAFA5-A517-B0A5-F668-0F51509075ED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4095749" y="1718767"/>
            <a:ext cx="697405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13CC797F-8377-EC3E-4827-9008AFBCFC9D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8943975" y="1718767"/>
            <a:ext cx="759486" cy="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BFFEA58E-FFAA-497D-4224-7CB866B15F7D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6389195" y="1718767"/>
            <a:ext cx="697405" cy="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tângulo: Cantos Arredondados 90">
                <a:extLst>
                  <a:ext uri="{FF2B5EF4-FFF2-40B4-BE49-F238E27FC236}">
                    <a16:creationId xmlns:a16="http://schemas.microsoft.com/office/drawing/2014/main" id="{53ED35C4-560A-64F0-5DE4-532A57B5716F}"/>
                  </a:ext>
                </a:extLst>
              </p:cNvPr>
              <p:cNvSpPr/>
              <p:nvPr/>
            </p:nvSpPr>
            <p:spPr>
              <a:xfrm>
                <a:off x="412361" y="2173621"/>
                <a:ext cx="838200" cy="483833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b="1" noProof="0" dirty="0"/>
              </a:p>
            </p:txBody>
          </p:sp>
        </mc:Choice>
        <mc:Fallback xmlns="">
          <p:sp>
            <p:nvSpPr>
              <p:cNvPr id="91" name="Retângulo: Cantos Arredondados 90">
                <a:extLst>
                  <a:ext uri="{FF2B5EF4-FFF2-40B4-BE49-F238E27FC236}">
                    <a16:creationId xmlns:a16="http://schemas.microsoft.com/office/drawing/2014/main" id="{53ED35C4-560A-64F0-5DE4-532A57B57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61" y="2173621"/>
                <a:ext cx="838200" cy="483833"/>
              </a:xfrm>
              <a:prstGeom prst="roundRect">
                <a:avLst/>
              </a:prstGeom>
              <a:blipFill>
                <a:blip r:embed="rId6"/>
                <a:stretch>
                  <a:fillRect r="-1418" b="-14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tângulo: Cantos Arredondados 91">
                <a:extLst>
                  <a:ext uri="{FF2B5EF4-FFF2-40B4-BE49-F238E27FC236}">
                    <a16:creationId xmlns:a16="http://schemas.microsoft.com/office/drawing/2014/main" id="{FE63A8AC-4526-C7A1-3064-AE81D7A091E6}"/>
                  </a:ext>
                </a:extLst>
              </p:cNvPr>
              <p:cNvSpPr/>
              <p:nvPr/>
            </p:nvSpPr>
            <p:spPr>
              <a:xfrm>
                <a:off x="5058734" y="2173621"/>
                <a:ext cx="951540" cy="483833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b="1" noProof="0" dirty="0"/>
              </a:p>
            </p:txBody>
          </p:sp>
        </mc:Choice>
        <mc:Fallback xmlns="">
          <p:sp>
            <p:nvSpPr>
              <p:cNvPr id="92" name="Retângulo: Cantos Arredondados 91">
                <a:extLst>
                  <a:ext uri="{FF2B5EF4-FFF2-40B4-BE49-F238E27FC236}">
                    <a16:creationId xmlns:a16="http://schemas.microsoft.com/office/drawing/2014/main" id="{FE63A8AC-4526-C7A1-3064-AE81D7A09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734" y="2173621"/>
                <a:ext cx="951540" cy="483833"/>
              </a:xfrm>
              <a:prstGeom prst="roundRect">
                <a:avLst/>
              </a:prstGeom>
              <a:blipFill>
                <a:blip r:embed="rId7"/>
                <a:stretch>
                  <a:fillRect b="-14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tângulo: Cantos Arredondados 92">
                <a:extLst>
                  <a:ext uri="{FF2B5EF4-FFF2-40B4-BE49-F238E27FC236}">
                    <a16:creationId xmlns:a16="http://schemas.microsoft.com/office/drawing/2014/main" id="{607025C9-01EA-E1B0-B36D-FDAE92C130CD}"/>
                  </a:ext>
                </a:extLst>
              </p:cNvPr>
              <p:cNvSpPr/>
              <p:nvPr/>
            </p:nvSpPr>
            <p:spPr>
              <a:xfrm>
                <a:off x="11142210" y="1476850"/>
                <a:ext cx="838200" cy="483833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b="1" noProof="0" dirty="0"/>
              </a:p>
            </p:txBody>
          </p:sp>
        </mc:Choice>
        <mc:Fallback xmlns="">
          <p:sp>
            <p:nvSpPr>
              <p:cNvPr id="93" name="Retângulo: Cantos Arredondados 92">
                <a:extLst>
                  <a:ext uri="{FF2B5EF4-FFF2-40B4-BE49-F238E27FC236}">
                    <a16:creationId xmlns:a16="http://schemas.microsoft.com/office/drawing/2014/main" id="{607025C9-01EA-E1B0-B36D-FDAE92C13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2210" y="1476850"/>
                <a:ext cx="838200" cy="483833"/>
              </a:xfrm>
              <a:prstGeom prst="roundRect">
                <a:avLst/>
              </a:prstGeom>
              <a:blipFill>
                <a:blip r:embed="rId8"/>
                <a:stretch>
                  <a:fillRect r="-1418" b="-13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tângulo: Cantos Arredondados 97">
                <a:extLst>
                  <a:ext uri="{FF2B5EF4-FFF2-40B4-BE49-F238E27FC236}">
                    <a16:creationId xmlns:a16="http://schemas.microsoft.com/office/drawing/2014/main" id="{85E3CF98-267D-0E52-D98F-535DDC1C7FE7}"/>
                  </a:ext>
                </a:extLst>
              </p:cNvPr>
              <p:cNvSpPr/>
              <p:nvPr/>
            </p:nvSpPr>
            <p:spPr>
              <a:xfrm>
                <a:off x="63039" y="1225189"/>
                <a:ext cx="4413672" cy="17448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r"/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Model assumption: 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 is all-poles</a:t>
                </a:r>
              </a:p>
            </p:txBody>
          </p:sp>
        </mc:Choice>
        <mc:Fallback xmlns="">
          <p:sp>
            <p:nvSpPr>
              <p:cNvPr id="98" name="Retângulo: Cantos Arredondados 97">
                <a:extLst>
                  <a:ext uri="{FF2B5EF4-FFF2-40B4-BE49-F238E27FC236}">
                    <a16:creationId xmlns:a16="http://schemas.microsoft.com/office/drawing/2014/main" id="{85E3CF98-267D-0E52-D98F-535DDC1C7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" y="1225189"/>
                <a:ext cx="4413672" cy="1744822"/>
              </a:xfrm>
              <a:prstGeom prst="roundRect">
                <a:avLst/>
              </a:prstGeom>
              <a:blipFill>
                <a:blip r:embed="rId9"/>
                <a:stretch>
                  <a:fillRect r="-549" b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tângulo: Cantos Arredondados 98">
                <a:extLst>
                  <a:ext uri="{FF2B5EF4-FFF2-40B4-BE49-F238E27FC236}">
                    <a16:creationId xmlns:a16="http://schemas.microsoft.com/office/drawing/2014/main" id="{5FB98A06-6157-0CC4-33D8-C7AD373EFC48}"/>
                  </a:ext>
                </a:extLst>
              </p:cNvPr>
              <p:cNvSpPr/>
              <p:nvPr/>
            </p:nvSpPr>
            <p:spPr>
              <a:xfrm>
                <a:off x="6588202" y="1225189"/>
                <a:ext cx="2841548" cy="23199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Find coefficients of FIR filter with</a:t>
                </a:r>
                <a14:m>
                  <m:oMath xmlns:m="http://schemas.openxmlformats.org/officeDocument/2006/math">
                    <m:r>
                      <a:rPr lang="en-US" sz="2000" b="1" i="0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 that minimizes output energy</a:t>
                </a:r>
              </a:p>
            </p:txBody>
          </p:sp>
        </mc:Choice>
        <mc:Fallback xmlns="">
          <p:sp>
            <p:nvSpPr>
              <p:cNvPr id="99" name="Retângulo: Cantos Arredondados 98">
                <a:extLst>
                  <a:ext uri="{FF2B5EF4-FFF2-40B4-BE49-F238E27FC236}">
                    <a16:creationId xmlns:a16="http://schemas.microsoft.com/office/drawing/2014/main" id="{5FB98A06-6157-0CC4-33D8-C7AD373EFC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02" y="1225189"/>
                <a:ext cx="2841548" cy="231992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Retângulo: Cantos Arredondados 108">
            <a:extLst>
              <a:ext uri="{FF2B5EF4-FFF2-40B4-BE49-F238E27FC236}">
                <a16:creationId xmlns:a16="http://schemas.microsoft.com/office/drawing/2014/main" id="{39A0AB8B-3E6A-C2DD-02E7-3405A6E872EE}"/>
              </a:ext>
            </a:extLst>
          </p:cNvPr>
          <p:cNvSpPr/>
          <p:nvPr/>
        </p:nvSpPr>
        <p:spPr>
          <a:xfrm>
            <a:off x="4625262" y="1236314"/>
            <a:ext cx="1906799" cy="22038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000" b="1" dirty="0">
                <a:solidFill>
                  <a:schemeClr val="tx2">
                    <a:lumMod val="10000"/>
                  </a:schemeClr>
                </a:solidFill>
              </a:rPr>
              <a:t>Collected signal</a:t>
            </a:r>
            <a:endParaRPr lang="en-US" sz="2000" b="1" noProof="0" dirty="0">
              <a:solidFill>
                <a:schemeClr val="tx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Retângulo: Cantos Arredondados 119">
                <a:extLst>
                  <a:ext uri="{FF2B5EF4-FFF2-40B4-BE49-F238E27FC236}">
                    <a16:creationId xmlns:a16="http://schemas.microsoft.com/office/drawing/2014/main" id="{2A38B840-597E-2003-5EEB-D37890005B69}"/>
                  </a:ext>
                </a:extLst>
              </p:cNvPr>
              <p:cNvSpPr/>
              <p:nvPr/>
            </p:nvSpPr>
            <p:spPr>
              <a:xfrm>
                <a:off x="9485891" y="1214064"/>
                <a:ext cx="2643070" cy="233104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Optimum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000" b="1" i="1" noProof="0" smtClean="0">
                        <a:solidFill>
                          <a:schemeClr val="tx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noProof="0" dirty="0">
                    <a:solidFill>
                      <a:schemeClr val="tx2">
                        <a:lumMod val="10000"/>
                      </a:schemeClr>
                    </a:solidFill>
                  </a:rPr>
                  <a:t> (Yule-Walker) yields white noise with power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lang="en-US" sz="2000" b="1" i="1" noProof="0" smtClean="0">
                            <a:solidFill>
                              <a:schemeClr val="tx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noProof="0" dirty="0">
                  <a:solidFill>
                    <a:schemeClr val="tx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Retângulo: Cantos Arredondados 119">
                <a:extLst>
                  <a:ext uri="{FF2B5EF4-FFF2-40B4-BE49-F238E27FC236}">
                    <a16:creationId xmlns:a16="http://schemas.microsoft.com/office/drawing/2014/main" id="{2A38B840-597E-2003-5EEB-D37890005B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891" y="1214064"/>
                <a:ext cx="2643070" cy="233104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" name="Imagem 125">
            <a:extLst>
              <a:ext uri="{FF2B5EF4-FFF2-40B4-BE49-F238E27FC236}">
                <a16:creationId xmlns:a16="http://schemas.microsoft.com/office/drawing/2014/main" id="{0FE5BFCF-3609-29CE-E659-55BC1485F00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904" t="7495" b="14994"/>
          <a:stretch>
            <a:fillRect/>
          </a:stretch>
        </p:blipFill>
        <p:spPr>
          <a:xfrm>
            <a:off x="6884741" y="3583713"/>
            <a:ext cx="5901655" cy="31110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: Cantos Arredondados 2">
                <a:extLst>
                  <a:ext uri="{FF2B5EF4-FFF2-40B4-BE49-F238E27FC236}">
                    <a16:creationId xmlns:a16="http://schemas.microsoft.com/office/drawing/2014/main" id="{DDBCE14A-1A09-0964-20D2-B2AC70062211}"/>
                  </a:ext>
                </a:extLst>
              </p:cNvPr>
              <p:cNvSpPr/>
              <p:nvPr/>
            </p:nvSpPr>
            <p:spPr>
              <a:xfrm>
                <a:off x="5954053" y="4392528"/>
                <a:ext cx="2464449" cy="73243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acc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noProof="0" smtClean="0"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num>
                                <m:den>
                                  <m:r>
                                    <a:rPr lang="en-US" sz="2000" b="1" i="1" noProof="0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en-US" sz="2000" b="1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1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𝒆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 noProof="0" smtClean="0"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  <m:r>
                                            <a:rPr lang="en-US" sz="2000" b="1" i="0" noProof="0" smtClean="0">
                                              <a:latin typeface="Cambria Math" panose="02040503050406030204" pitchFamily="18" charset="0"/>
                                            </a:rPr>
                                            <m:t>𝛀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000" b="1" noProof="0" dirty="0"/>
              </a:p>
            </p:txBody>
          </p:sp>
        </mc:Choice>
        <mc:Fallback xmlns="">
          <p:sp>
            <p:nvSpPr>
              <p:cNvPr id="3" name="Retângulo: Cantos Arredondados 2">
                <a:extLst>
                  <a:ext uri="{FF2B5EF4-FFF2-40B4-BE49-F238E27FC236}">
                    <a16:creationId xmlns:a16="http://schemas.microsoft.com/office/drawing/2014/main" id="{DDBCE14A-1A09-0964-20D2-B2AC700622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053" y="4392528"/>
                <a:ext cx="2464449" cy="732434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: Cantos Arredondados 3">
                <a:extLst>
                  <a:ext uri="{FF2B5EF4-FFF2-40B4-BE49-F238E27FC236}">
                    <a16:creationId xmlns:a16="http://schemas.microsoft.com/office/drawing/2014/main" id="{49908982-2C26-A242-B898-81790A5C5A6C}"/>
                  </a:ext>
                </a:extLst>
              </p:cNvPr>
              <p:cNvSpPr/>
              <p:nvPr/>
            </p:nvSpPr>
            <p:spPr>
              <a:xfrm>
                <a:off x="5954052" y="3609857"/>
                <a:ext cx="2464449" cy="73243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000" b="1" i="0" noProof="0" smtClean="0">
                                  <a:latin typeface="Cambria Math" panose="02040503050406030204" pitchFamily="18" charset="0"/>
                                </a:rPr>
                                <m:t>𝛀</m:t>
                              </m:r>
                            </m:sup>
                          </m:sSup>
                        </m:e>
                      </m:d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noProof="0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  <m:d>
                                <m:dPr>
                                  <m:ctrlPr>
                                    <a:rPr lang="en-US" sz="2000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1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 noProof="0" smtClean="0">
                                          <a:latin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p>
                                      <m:r>
                                        <a:rPr lang="en-US" sz="2000" b="1" i="1" noProof="0" smtClean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  <m:r>
                                        <a:rPr lang="en-US" sz="2000" b="1" i="0" noProof="0" smtClean="0">
                                          <a:latin typeface="Cambria Math" panose="02040503050406030204" pitchFamily="18" charset="0"/>
                                        </a:rPr>
                                        <m:t>𝛀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000" b="1" noProof="0" dirty="0"/>
              </a:p>
            </p:txBody>
          </p:sp>
        </mc:Choice>
        <mc:Fallback xmlns="">
          <p:sp>
            <p:nvSpPr>
              <p:cNvPr id="4" name="Retângulo: Cantos Arredondados 3">
                <a:extLst>
                  <a:ext uri="{FF2B5EF4-FFF2-40B4-BE49-F238E27FC236}">
                    <a16:creationId xmlns:a16="http://schemas.microsoft.com/office/drawing/2014/main" id="{49908982-2C26-A242-B898-81790A5C5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052" y="3609857"/>
                <a:ext cx="2464449" cy="732434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95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4BEC747-E488-3668-BE4F-848112E6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419F34-4D66-A8FB-E3F8-6E14E6ECAE6B}"/>
              </a:ext>
            </a:extLst>
          </p:cNvPr>
          <p:cNvCxnSpPr>
            <a:cxnSpLocks/>
          </p:cNvCxnSpPr>
          <p:nvPr/>
        </p:nvCxnSpPr>
        <p:spPr>
          <a:xfrm>
            <a:off x="6064034" y="726468"/>
            <a:ext cx="11469" cy="5338517"/>
          </a:xfrm>
          <a:prstGeom prst="straightConnector1">
            <a:avLst/>
          </a:prstGeom>
          <a:ln w="28575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440DA-0B42-3E7F-39BA-A990AE9A78F5}"/>
              </a:ext>
            </a:extLst>
          </p:cNvPr>
          <p:cNvSpPr/>
          <p:nvPr/>
        </p:nvSpPr>
        <p:spPr>
          <a:xfrm>
            <a:off x="6301966" y="571029"/>
            <a:ext cx="5740399" cy="8200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Not satisfying the assumptions of the AR model (system has zeros)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B122E0-5968-B505-74F1-A0D8D33C907D}"/>
              </a:ext>
            </a:extLst>
          </p:cNvPr>
          <p:cNvSpPr/>
          <p:nvPr/>
        </p:nvSpPr>
        <p:spPr>
          <a:xfrm>
            <a:off x="107931" y="571029"/>
            <a:ext cx="5892799" cy="820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noProof="0" dirty="0">
                <a:latin typeface="Calibri"/>
                <a:ea typeface="Calibri"/>
                <a:cs typeface="Calibri"/>
              </a:rPr>
              <a:t>Satisfying the assumptions of the AR model</a:t>
            </a:r>
            <a:endParaRPr lang="en-US" sz="2400" noProof="0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Imagem 4" descr="PIC">
            <a:extLst>
              <a:ext uri="{FF2B5EF4-FFF2-40B4-BE49-F238E27FC236}">
                <a16:creationId xmlns:a16="http://schemas.microsoft.com/office/drawing/2014/main" id="{E5DFC154-D4BC-2A54-372A-CF59254A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684" y="1449143"/>
            <a:ext cx="5698962" cy="4402769"/>
          </a:xfrm>
          <a:prstGeom prst="rect">
            <a:avLst/>
          </a:prstGeom>
        </p:spPr>
      </p:pic>
      <p:pic>
        <p:nvPicPr>
          <p:cNvPr id="8" name="Imagem 7" descr="PIC">
            <a:extLst>
              <a:ext uri="{FF2B5EF4-FFF2-40B4-BE49-F238E27FC236}">
                <a16:creationId xmlns:a16="http://schemas.microsoft.com/office/drawing/2014/main" id="{A5D16D0F-1860-EB27-6B25-CA1AC7FB5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86" y="1628252"/>
            <a:ext cx="5442287" cy="4293244"/>
          </a:xfrm>
          <a:prstGeom prst="rect">
            <a:avLst/>
          </a:prstGeom>
        </p:spPr>
      </p:pic>
      <p:sp>
        <p:nvSpPr>
          <p:cNvPr id="30" name="Google Shape;53;p7">
            <a:extLst>
              <a:ext uri="{FF2B5EF4-FFF2-40B4-BE49-F238E27FC236}">
                <a16:creationId xmlns:a16="http://schemas.microsoft.com/office/drawing/2014/main" id="{4FD9F92D-45EB-57A5-AF17-CBFDE67B666B}"/>
              </a:ext>
            </a:extLst>
          </p:cNvPr>
          <p:cNvSpPr txBox="1"/>
          <p:nvPr/>
        </p:nvSpPr>
        <p:spPr bwMode="auto">
          <a:xfrm>
            <a:off x="-2041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548;p34">
            <a:extLst>
              <a:ext uri="{FF2B5EF4-FFF2-40B4-BE49-F238E27FC236}">
                <a16:creationId xmlns:a16="http://schemas.microsoft.com/office/drawing/2014/main" id="{180E9AA4-84FB-881C-16AE-AF44B29AA7F9}"/>
              </a:ext>
            </a:extLst>
          </p:cNvPr>
          <p:cNvSpPr txBox="1">
            <a:spLocks/>
          </p:cNvSpPr>
          <p:nvPr/>
        </p:nvSpPr>
        <p:spPr bwMode="auto">
          <a:xfrm>
            <a:off x="11739554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7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7A4D3BC-27F9-4A29-100E-2D7598EDFD13}"/>
              </a:ext>
            </a:extLst>
          </p:cNvPr>
          <p:cNvSpPr/>
          <p:nvPr/>
        </p:nvSpPr>
        <p:spPr>
          <a:xfrm>
            <a:off x="374027" y="6038168"/>
            <a:ext cx="5360604" cy="7324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Far fewer coefficients compared to Welch’s method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E51DFCB9-E61C-41EB-5C8C-A4634424667E}"/>
              </a:ext>
            </a:extLst>
          </p:cNvPr>
          <p:cNvSpPr/>
          <p:nvPr/>
        </p:nvSpPr>
        <p:spPr>
          <a:xfrm>
            <a:off x="6491863" y="6009351"/>
            <a:ext cx="5360604" cy="7324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Poles cannot create zeros, so AR model performs poorly near notches</a:t>
            </a:r>
          </a:p>
        </p:txBody>
      </p:sp>
    </p:spTree>
    <p:extLst>
      <p:ext uri="{BB962C8B-B14F-4D97-AF65-F5344CB8AC3E}">
        <p14:creationId xmlns:p14="http://schemas.microsoft.com/office/powerpoint/2010/main" val="3776176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0365018-8250-C082-2B67-B6BBD970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8;p34">
            <a:extLst>
              <a:ext uri="{FF2B5EF4-FFF2-40B4-BE49-F238E27FC236}">
                <a16:creationId xmlns:a16="http://schemas.microsoft.com/office/drawing/2014/main" id="{82C4C46F-D9B7-078B-3138-C82EC30173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11741595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8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3" name="Google Shape;53;p7">
            <a:extLst>
              <a:ext uri="{FF2B5EF4-FFF2-40B4-BE49-F238E27FC236}">
                <a16:creationId xmlns:a16="http://schemas.microsoft.com/office/drawing/2014/main" id="{2ABCC1F3-6E91-8D65-07E2-C866375D8BB3}"/>
              </a:ext>
            </a:extLst>
          </p:cNvPr>
          <p:cNvSpPr txBox="1"/>
          <p:nvPr/>
        </p:nvSpPr>
        <p:spPr bwMode="auto">
          <a:xfrm>
            <a:off x="-2041" y="0"/>
            <a:ext cx="12192000" cy="4816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Spectral Estimation Techniques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548;p34">
            <a:extLst>
              <a:ext uri="{FF2B5EF4-FFF2-40B4-BE49-F238E27FC236}">
                <a16:creationId xmlns:a16="http://schemas.microsoft.com/office/drawing/2014/main" id="{63574653-D95B-AB94-D300-77FD188FD838}"/>
              </a:ext>
            </a:extLst>
          </p:cNvPr>
          <p:cNvSpPr txBox="1">
            <a:spLocks/>
          </p:cNvSpPr>
          <p:nvPr/>
        </p:nvSpPr>
        <p:spPr bwMode="auto">
          <a:xfrm>
            <a:off x="11739554" y="89399"/>
            <a:ext cx="4504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marR="0" lvl="0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noProof="0" smtClean="0">
                <a:solidFill>
                  <a:schemeClr val="lt1"/>
                </a:solidFill>
              </a:rPr>
              <a:pPr/>
              <a:t>8</a:t>
            </a:fld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Google Shape;98;p4">
            <a:extLst>
              <a:ext uri="{FF2B5EF4-FFF2-40B4-BE49-F238E27FC236}">
                <a16:creationId xmlns:a16="http://schemas.microsoft.com/office/drawing/2014/main" id="{4A4924B3-EFCD-839D-B1A6-2D838C876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" y="492755"/>
            <a:ext cx="11904391" cy="73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noProof="0" dirty="0"/>
              <a:t>Spectrogram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0500C82-B722-E491-6654-845D71A0F062}"/>
              </a:ext>
            </a:extLst>
          </p:cNvPr>
          <p:cNvGrpSpPr/>
          <p:nvPr/>
        </p:nvGrpSpPr>
        <p:grpSpPr>
          <a:xfrm>
            <a:off x="150828" y="2468693"/>
            <a:ext cx="7892989" cy="3657404"/>
            <a:chOff x="0" y="2564287"/>
            <a:chExt cx="7061820" cy="2941163"/>
          </a:xfrm>
        </p:grpSpPr>
        <p:pic>
          <p:nvPicPr>
            <p:cNvPr id="5" name="Imagem 4" descr="PIC">
              <a:extLst>
                <a:ext uri="{FF2B5EF4-FFF2-40B4-BE49-F238E27FC236}">
                  <a16:creationId xmlns:a16="http://schemas.microsoft.com/office/drawing/2014/main" id="{392E791C-5E7E-03E2-A42E-BB99BC3EE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564287"/>
              <a:ext cx="3508115" cy="2941163"/>
            </a:xfrm>
            <a:prstGeom prst="rect">
              <a:avLst/>
            </a:prstGeom>
          </p:spPr>
        </p:pic>
        <p:pic>
          <p:nvPicPr>
            <p:cNvPr id="6" name="Imagem 5" descr="PIC">
              <a:extLst>
                <a:ext uri="{FF2B5EF4-FFF2-40B4-BE49-F238E27FC236}">
                  <a16:creationId xmlns:a16="http://schemas.microsoft.com/office/drawing/2014/main" id="{0AE4B867-98A1-1611-274C-7694F6402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8115" y="2564287"/>
              <a:ext cx="3553705" cy="2941163"/>
            </a:xfrm>
            <a:prstGeom prst="rect">
              <a:avLst/>
            </a:prstGeom>
          </p:spPr>
        </p:pic>
      </p:grp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A353189-E9DF-AC21-11F1-A395E0602AA2}"/>
              </a:ext>
            </a:extLst>
          </p:cNvPr>
          <p:cNvSpPr/>
          <p:nvPr/>
        </p:nvSpPr>
        <p:spPr>
          <a:xfrm>
            <a:off x="1460752" y="6238089"/>
            <a:ext cx="1301167" cy="5056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Speech</a:t>
            </a:r>
          </a:p>
        </p:txBody>
      </p:sp>
      <p:pic>
        <p:nvPicPr>
          <p:cNvPr id="15" name="Imagem 14" descr="PIC">
            <a:extLst>
              <a:ext uri="{FF2B5EF4-FFF2-40B4-BE49-F238E27FC236}">
                <a16:creationId xmlns:a16="http://schemas.microsoft.com/office/drawing/2014/main" id="{A8688E58-D1AE-1B15-2DAF-3F70A6FF1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817" y="2645347"/>
            <a:ext cx="4148183" cy="3304095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48C19FB-EBFB-5E3C-2C2E-22D01FD915DE}"/>
              </a:ext>
            </a:extLst>
          </p:cNvPr>
          <p:cNvSpPr/>
          <p:nvPr/>
        </p:nvSpPr>
        <p:spPr>
          <a:xfrm>
            <a:off x="9413653" y="6112415"/>
            <a:ext cx="1408510" cy="5056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Piano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26550BA-A40B-85B2-5DA5-E58A56B585BC}"/>
              </a:ext>
            </a:extLst>
          </p:cNvPr>
          <p:cNvSpPr/>
          <p:nvPr/>
        </p:nvSpPr>
        <p:spPr>
          <a:xfrm>
            <a:off x="471340" y="1236314"/>
            <a:ext cx="5512048" cy="809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Nonstationary processes have time-varying spectrum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BEDE7F4-8CB8-F743-34D4-A3B9559AD522}"/>
              </a:ext>
            </a:extLst>
          </p:cNvPr>
          <p:cNvSpPr/>
          <p:nvPr/>
        </p:nvSpPr>
        <p:spPr>
          <a:xfrm>
            <a:off x="6242116" y="1236314"/>
            <a:ext cx="5512048" cy="80930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Spectrograms take multiple windows but do not combine them like Welch’s method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8430599-65AC-4434-051E-18F376943293}"/>
              </a:ext>
            </a:extLst>
          </p:cNvPr>
          <p:cNvSpPr/>
          <p:nvPr/>
        </p:nvSpPr>
        <p:spPr>
          <a:xfrm>
            <a:off x="5407247" y="6238089"/>
            <a:ext cx="1301167" cy="5056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/>
              <a:t>Speech</a:t>
            </a:r>
          </a:p>
        </p:txBody>
      </p:sp>
    </p:spTree>
    <p:extLst>
      <p:ext uri="{BB962C8B-B14F-4D97-AF65-F5344CB8AC3E}">
        <p14:creationId xmlns:p14="http://schemas.microsoft.com/office/powerpoint/2010/main" val="261149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>
          <a:extLst>
            <a:ext uri="{FF2B5EF4-FFF2-40B4-BE49-F238E27FC236}">
              <a16:creationId xmlns:a16="http://schemas.microsoft.com/office/drawing/2014/main" id="{A858D753-66B8-0C5D-FBF2-05FE8DB7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D75FE424-F512-75C2-3C9B-1E843B5BBC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89581" y="1047648"/>
            <a:ext cx="10531200" cy="3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rmAutofit/>
          </a:bodyPr>
          <a:lstStyle/>
          <a:p>
            <a:pPr>
              <a:buClr>
                <a:schemeClr val="accent6"/>
              </a:buClr>
              <a:buSzPct val="100000"/>
            </a:pPr>
            <a:br>
              <a:rPr lang="en-US" sz="4800" noProof="0" dirty="0">
                <a:solidFill>
                  <a:schemeClr val="accent6"/>
                </a:solidFill>
              </a:rPr>
            </a:br>
            <a:r>
              <a:rPr lang="en-US" sz="5867" noProof="0" dirty="0">
                <a:solidFill>
                  <a:schemeClr val="accent6"/>
                </a:solidFill>
              </a:rPr>
              <a:t>Thank you!</a:t>
            </a:r>
            <a:br>
              <a:rPr lang="en-US" sz="5867" noProof="0" dirty="0">
                <a:solidFill>
                  <a:schemeClr val="accent6"/>
                </a:solidFill>
              </a:rPr>
            </a:br>
            <a:endParaRPr lang="en-US" noProof="0" dirty="0">
              <a:solidFill>
                <a:schemeClr val="accent6"/>
              </a:solidFill>
            </a:endParaRP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6376D4D1-6AA7-5EB6-8A1D-BB2F07FAEF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9013" y="4842880"/>
            <a:ext cx="9472400" cy="12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0C5ADB"/>
              </a:buClr>
              <a:buSzPts val="2100"/>
            </a:pPr>
            <a:r>
              <a:rPr lang="en-US" sz="2800" b="1" noProof="0" dirty="0">
                <a:solidFill>
                  <a:srgbClr val="0C5ADB"/>
                </a:solidFill>
              </a:rPr>
              <a:t>Prof. Aldebaro Klautau.</a:t>
            </a:r>
            <a:br>
              <a:rPr lang="en-US" sz="2800" b="1" noProof="0" dirty="0">
                <a:solidFill>
                  <a:srgbClr val="0C5ADB"/>
                </a:solidFill>
              </a:rPr>
            </a:br>
            <a:r>
              <a:rPr lang="en-US" sz="2800" b="1" noProof="0" dirty="0">
                <a:solidFill>
                  <a:srgbClr val="0C5ADB"/>
                </a:solidFill>
              </a:rPr>
              <a:t>Federal University of Pará (UFPA)</a:t>
            </a:r>
            <a:endParaRPr lang="en-US" noProof="0" dirty="0"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BEA730A7-0F15-D559-1EA1-8E4389F4A206}"/>
              </a:ext>
            </a:extLst>
          </p:cNvPr>
          <p:cNvSpPr txBox="1"/>
          <p:nvPr/>
        </p:nvSpPr>
        <p:spPr>
          <a:xfrm>
            <a:off x="1315311" y="5882400"/>
            <a:ext cx="96800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C5ADB"/>
              </a:buClr>
              <a:buSzPts val="2100"/>
            </a:pPr>
            <a:r>
              <a:rPr lang="en-US" sz="2800" noProof="0" dirty="0">
                <a:solidFill>
                  <a:srgbClr val="0C5ADB"/>
                </a:solidFill>
                <a:latin typeface="Calibri"/>
                <a:ea typeface="Calibri"/>
                <a:cs typeface="Calibri"/>
                <a:sym typeface="Calibri"/>
              </a:rPr>
              <a:t>www.lasse.ufpa.br   &amp;   www.ppgee.ufpa.br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793562107"/>
      </p:ext>
    </p:extLst>
  </p:cSld>
  <p:clrMapOvr>
    <a:masterClrMapping/>
  </p:clrMapOvr>
</p:sld>
</file>

<file path=ppt/theme/theme1.xml><?xml version="1.0" encoding="utf-8"?>
<a:theme xmlns:a="http://schemas.openxmlformats.org/drawingml/2006/main" name="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2.xml><?xml version="1.0" encoding="utf-8"?>
<a:theme xmlns:a="http://schemas.openxmlformats.org/drawingml/2006/main" name="2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Escritóri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SSE" id="{BE30A4F1-1BF8-4DA4-B59B-AB54573862DA}" vid="{BE65E250-7B1D-4EF0-9425-07FF56316B88}"/>
    </a:ext>
  </a:extLst>
</a:theme>
</file>

<file path=ppt/theme/theme3.xml><?xml version="1.0" encoding="utf-8"?>
<a:theme xmlns:a="http://schemas.openxmlformats.org/drawingml/2006/main" name="3_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3C2</Template>
  <TotalTime>360</TotalTime>
  <Words>405</Words>
  <Application>Microsoft Office PowerPoint</Application>
  <PresentationFormat>Widescreen</PresentationFormat>
  <Paragraphs>84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LASSE</vt:lpstr>
      <vt:lpstr>2_LASSE</vt:lpstr>
      <vt:lpstr>3_LASSE</vt:lpstr>
      <vt:lpstr> Digital Signal Processing  Spectral Estimation Techniques II </vt:lpstr>
      <vt:lpstr>Periodogram</vt:lpstr>
      <vt:lpstr>Welch: averages of periodograms</vt:lpstr>
      <vt:lpstr>PowerPoint Presentation</vt:lpstr>
      <vt:lpstr>Filtering white noise shapes the noise spectrum like the filter</vt:lpstr>
      <vt:lpstr>Autoregressive (AR) Modeling</vt:lpstr>
      <vt:lpstr>PowerPoint Presentation</vt:lpstr>
      <vt:lpstr>Spectrogram</vt:lpstr>
      <vt:lpstr> 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Breno Silva</dc:creator>
  <cp:lastModifiedBy>Breno Silva</cp:lastModifiedBy>
  <cp:revision>272</cp:revision>
  <dcterms:created xsi:type="dcterms:W3CDTF">2026-06-17T19:36:42Z</dcterms:created>
  <dcterms:modified xsi:type="dcterms:W3CDTF">2026-07-02T15:21:47Z</dcterms:modified>
</cp:coreProperties>
</file>