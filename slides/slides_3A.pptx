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75" r:id="rId3"/>
  </p:sldMasterIdLst>
  <p:notesMasterIdLst>
    <p:notesMasterId r:id="rId22"/>
  </p:notesMasterIdLst>
  <p:sldIdLst>
    <p:sldId id="258" r:id="rId4"/>
    <p:sldId id="337" r:id="rId5"/>
    <p:sldId id="339" r:id="rId6"/>
    <p:sldId id="341" r:id="rId7"/>
    <p:sldId id="347" r:id="rId8"/>
    <p:sldId id="342" r:id="rId9"/>
    <p:sldId id="340" r:id="rId10"/>
    <p:sldId id="348" r:id="rId11"/>
    <p:sldId id="349" r:id="rId12"/>
    <p:sldId id="344" r:id="rId13"/>
    <p:sldId id="350" r:id="rId14"/>
    <p:sldId id="345" r:id="rId15"/>
    <p:sldId id="351" r:id="rId16"/>
    <p:sldId id="352" r:id="rId17"/>
    <p:sldId id="346" r:id="rId18"/>
    <p:sldId id="338" r:id="rId19"/>
    <p:sldId id="353" r:id="rId20"/>
    <p:sldId id="28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1C4FAE4A-B207-4FF2-B6D9-2DA09EA1BC42}">
          <p14:sldIdLst>
            <p14:sldId id="258"/>
            <p14:sldId id="337"/>
            <p14:sldId id="339"/>
            <p14:sldId id="341"/>
            <p14:sldId id="347"/>
            <p14:sldId id="342"/>
            <p14:sldId id="340"/>
            <p14:sldId id="348"/>
            <p14:sldId id="349"/>
            <p14:sldId id="344"/>
            <p14:sldId id="350"/>
            <p14:sldId id="345"/>
            <p14:sldId id="351"/>
            <p14:sldId id="352"/>
            <p14:sldId id="346"/>
            <p14:sldId id="338"/>
            <p14:sldId id="353"/>
            <p14:sldId id="285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3DED50C-E34D-AFFF-D85C-E78EEFDB4F2E}" name="Lucas Mozart" initials="LM" userId="980d2b913cf724f7" providerId="Windows Live"/>
  <p188:author id="{3F85C41C-DF4F-56C1-1D90-EBFF7D5BBAE8}" name="Breno Silva" initials="BS" userId="c065c6085e3e68d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9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9E42FA-522D-4AA2-BB6A-367D959AA93B}" v="2" dt="2026-07-02T14:59:38.2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o Silva" userId="c065c6085e3e68de" providerId="LiveId" clId="{E8F1992F-CFD2-402F-B515-5840D04FB101}"/>
    <pc:docChg chg="undo custSel modSld sldOrd">
      <pc:chgData name="Breno Silva" userId="c065c6085e3e68de" providerId="LiveId" clId="{E8F1992F-CFD2-402F-B515-5840D04FB101}" dt="2026-07-02T14:59:45.152" v="131" actId="1076"/>
      <pc:docMkLst>
        <pc:docMk/>
      </pc:docMkLst>
      <pc:sldChg chg="modSp mod">
        <pc:chgData name="Breno Silva" userId="c065c6085e3e68de" providerId="LiveId" clId="{E8F1992F-CFD2-402F-B515-5840D04FB101}" dt="2026-07-02T14:59:45.152" v="131" actId="1076"/>
        <pc:sldMkLst>
          <pc:docMk/>
          <pc:sldMk cId="2889340667" sldId="353"/>
        </pc:sldMkLst>
        <pc:spChg chg="mod">
          <ac:chgData name="Breno Silva" userId="c065c6085e3e68de" providerId="LiveId" clId="{E8F1992F-CFD2-402F-B515-5840D04FB101}" dt="2026-07-02T14:59:45.152" v="131" actId="1076"/>
          <ac:spMkLst>
            <pc:docMk/>
            <pc:sldMk cId="2889340667" sldId="353"/>
            <ac:spMk id="7" creationId="{647548DC-DFD6-6ABC-7C30-F86DC35436F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A67C47-2838-4CA3-9C8E-1307A3F7986A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25B364-B1F4-486B-9CE8-2ADBE9897E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1420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9695dd3e5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g39695dd3e5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/>
          </a:p>
        </p:txBody>
      </p:sp>
      <p:sp>
        <p:nvSpPr>
          <p:cNvPr id="33" name="Google Shape;33;g39695dd3e52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F09E2A5-E782-EB0C-DE53-A6E4FDF3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5F0E610E-2F06-226E-369F-D7E526E8BE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72590296-AB2F-725B-0AB9-7BD364BDB3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9848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9704FEDF-6E92-7E6C-3E91-2E4EE212E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66D146C6-022E-4C9D-5BB3-277EADD615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ED843A08-CAE5-9DC0-8A33-1BAFA24B94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26475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BF7D5B0C-9874-75F4-7C2D-BF957B938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C6EBB0DB-ECCC-0672-3619-1ED6822383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EA9EBB5A-70C9-4259-27A8-FACBAD90F3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75732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FF4C5B70-88A9-51F3-13A7-1FF3123E1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192941EF-39D7-B15B-C601-21A55FFD31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764CD20F-C84A-71C9-7063-8BD97042C1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57400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BF2AB744-338E-4726-17BE-9A1A80D79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E9507377-4E8F-48E5-408E-6761A29D46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D73A5BDA-D045-0C0C-93CA-316828DEA3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02311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405BF9F-844A-6AEE-2E2F-257A0A3B7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A9ABDB23-F92F-1DFE-89FA-FC18BD564C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E2C14E7E-5268-14F8-D2FD-844B95B91A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406319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F68C769F-64A6-484A-40FD-ED6E28636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C594D813-D217-D6B0-61D5-205711A996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26AADB2E-71A7-FAE0-5E92-02493F1ED2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3593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BF7F6259-6ADF-8D13-15C2-D02C9D805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4765167D-41FB-EA92-C50F-EE54129DB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EE13AEC9-1CFA-5D8A-CBA7-94ACC1169E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502667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323B1F2B-CD5F-2DF2-6D37-4750DF784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2C289FDD-BA92-DC82-22F6-C4C34FFE67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CC7771D7-2F3C-952E-DBD3-7B4182A7E6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03593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087E88DD-9110-51C7-09D3-E5ECFD884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0180DB9A-16A9-3FFF-3ABF-7B6D9A6270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CFC365D6-F154-322D-7C12-A68F72136C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388285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97E3036F-29D9-111A-0D2B-AEB6B7416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A9C98D98-8F25-4D6C-C62D-EEBFEBA605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F8F65EAD-825B-825A-5AB5-35B6DCE5F7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945331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A5B88EB-3538-3E65-9FBB-404BF8F65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C888F842-7924-0AC7-2EEF-422D0378F2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3E750D6E-967B-16AA-6FE4-03F49936E9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749222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1416B750-65ED-AB31-5382-A40F96C29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9969BE88-419A-348C-3B89-4C09942F73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47A46C61-97D5-558C-C1D0-E08A72ED9B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852225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F2CF2481-21F5-736D-221B-524144D27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F44477C4-A0C5-CB76-47D8-1C5B8F7801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1614DFA3-E95A-6C45-C3AF-F62D7D9093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98495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A9571DF-E021-80AD-AA70-7871F28EA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5266AC65-059D-0A7E-3012-1601F1A4AC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C7CEF9E4-9740-7F59-888C-AAADDC9604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992339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3A8ED50A-93E8-F687-11A8-CD2C4350B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C5BEE2DF-3E52-D0FA-DC9D-4BB260D1D9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C0332741-E4B0-117E-5C8E-15177B436A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704532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>
          <a:extLst>
            <a:ext uri="{FF2B5EF4-FFF2-40B4-BE49-F238E27FC236}">
              <a16:creationId xmlns:a16="http://schemas.microsoft.com/office/drawing/2014/main" id="{2592838A-BCA9-C802-768A-618625EC2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9695dd3e52_0_21:notes">
            <a:extLst>
              <a:ext uri="{FF2B5EF4-FFF2-40B4-BE49-F238E27FC236}">
                <a16:creationId xmlns:a16="http://schemas.microsoft.com/office/drawing/2014/main" id="{680EB454-1AC2-FCB7-67FB-52E0DB97A8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g39695dd3e52_0_21:notes">
            <a:extLst>
              <a:ext uri="{FF2B5EF4-FFF2-40B4-BE49-F238E27FC236}">
                <a16:creationId xmlns:a16="http://schemas.microsoft.com/office/drawing/2014/main" id="{47705A17-3D14-F5AE-D0DF-778CB7F91D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g39695dd3e52_0_21:notes">
            <a:extLst>
              <a:ext uri="{FF2B5EF4-FFF2-40B4-BE49-F238E27FC236}">
                <a16:creationId xmlns:a16="http://schemas.microsoft.com/office/drawing/2014/main" id="{6020BFE8-9CF4-5133-7E9A-EAECCDAADE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928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27373369-6457-47B7-BA3E-401B3A7E9069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1475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10600" y="6356349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27373369-6457-47B7-BA3E-401B3A7E9069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200" y="6356391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6593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27373369-6457-47B7-BA3E-401B3A7E9069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53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F81B075-AB75-D145-BDC3-C6F54BCBBF93}"/>
              </a:ext>
            </a:extLst>
          </p:cNvPr>
          <p:cNvSpPr/>
          <p:nvPr/>
        </p:nvSpPr>
        <p:spPr>
          <a:xfrm>
            <a:off x="775063" y="1741715"/>
            <a:ext cx="5319414" cy="4519748"/>
          </a:xfrm>
          <a:prstGeom prst="rect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7646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304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27373369-6457-47B7-BA3E-401B3A7E9069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38200" y="6356349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8593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0283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25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5665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410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9513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10600" y="6356349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BD419854-2407-4A90-B8AA-05EBE910862A}" type="datetime1">
              <a:rPr lang="pt-BR" smtClean="0">
                <a:solidFill>
                  <a:srgbClr val="4285F4">
                    <a:tint val="75000"/>
                  </a:srgbClr>
                </a:solidFill>
              </a:rPr>
              <a:t>02/07/2026</a:t>
            </a:fld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200" y="6356391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D58DC4E0-510A-4CE8-BAC1-E31DDE1D53C8}" type="slidenum">
              <a:rPr lang="pt-BR" smtClean="0">
                <a:solidFill>
                  <a:srgbClr val="4285F4">
                    <a:tint val="75000"/>
                  </a:srgbClr>
                </a:solidFill>
              </a:rPr>
              <a:pPr/>
              <a:t>‹nº›</a:t>
            </a:fld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33569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3749C-2957-4EA2-823B-88F9FA922164}" type="datetime1">
              <a:rPr lang="pt-BR" smtClean="0">
                <a:solidFill>
                  <a:srgbClr val="4285F4">
                    <a:tint val="75000"/>
                  </a:srgbClr>
                </a:solidFill>
              </a:rPr>
              <a:t>02/07/2026</a:t>
            </a:fld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C4E0-510A-4CE8-BAC1-E31DDE1D53C8}" type="slidenum">
              <a:rPr lang="pt-BR" smtClean="0">
                <a:solidFill>
                  <a:srgbClr val="4285F4">
                    <a:tint val="75000"/>
                  </a:srgbClr>
                </a:solidFill>
              </a:rPr>
              <a:pPr/>
              <a:t>‹nº›</a:t>
            </a:fld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47014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03721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e conteúdo" type="obj">
  <p:cSld name="1_Título e conteúdo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1440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8610600" y="6356349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38200" y="635639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4392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035" y="1178612"/>
            <a:ext cx="6069010" cy="60690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144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27373369-6457-47B7-BA3E-401B3A7E9069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28" y="367999"/>
            <a:ext cx="1216572" cy="139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8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5"/>
        </a:buBlip>
        <a:defRPr sz="2800" kern="120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5"/>
        </a:buBlip>
        <a:defRPr sz="2400" kern="120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5"/>
        </a:buBlip>
        <a:defRPr sz="2000" kern="120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5"/>
        </a:buBlip>
        <a:defRPr sz="1800" kern="120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5"/>
        </a:buBlip>
        <a:defRPr sz="1800" kern="120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035" y="1178612"/>
            <a:ext cx="6069010" cy="60690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144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2FDF9-3C59-462F-92FA-FBEEAE4E9463}" type="datetime1">
              <a:rPr lang="pt-BR" smtClean="0">
                <a:solidFill>
                  <a:srgbClr val="4285F4">
                    <a:tint val="75000"/>
                  </a:srgbClr>
                </a:solidFill>
              </a:rPr>
              <a:t>02/07/2026</a:t>
            </a:fld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DC4E0-510A-4CE8-BAC1-E31DDE1D53C8}" type="slidenum">
              <a:rPr lang="pt-BR" smtClean="0">
                <a:solidFill>
                  <a:srgbClr val="4285F4">
                    <a:tint val="75000"/>
                  </a:srgbClr>
                </a:solidFill>
              </a:rPr>
              <a:pPr/>
              <a:t>‹nº›</a:t>
            </a:fld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295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5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5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5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5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0035" y="1178612"/>
            <a:ext cx="6069011" cy="606901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1440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27373369-6457-47B7-BA3E-401B3A7E9069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10" name="Google Shape;10;p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439640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4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ctrTitle"/>
          </p:nvPr>
        </p:nvSpPr>
        <p:spPr>
          <a:xfrm>
            <a:off x="889581" y="1047648"/>
            <a:ext cx="10531200" cy="3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b" anchorCtr="0">
            <a:normAutofit fontScale="90000"/>
          </a:bodyPr>
          <a:lstStyle/>
          <a:p>
            <a:pPr>
              <a:buClr>
                <a:schemeClr val="accent6"/>
              </a:buClr>
              <a:buSzPct val="100000"/>
            </a:pPr>
            <a:br>
              <a:rPr lang="en-US" sz="4800" noProof="0"/>
            </a:br>
            <a:r>
              <a:rPr lang="en-US" sz="5850" noProof="0">
                <a:solidFill>
                  <a:schemeClr val="accent6"/>
                </a:solidFill>
              </a:rPr>
              <a:t>Digital Signal Processing</a:t>
            </a:r>
            <a:br>
              <a:rPr lang="en-US" sz="5850" noProof="0"/>
            </a:br>
            <a:br>
              <a:rPr lang="en-US" sz="4800" noProof="0"/>
            </a:br>
            <a:r>
              <a:rPr lang="en-US" sz="4800" noProof="0">
                <a:solidFill>
                  <a:schemeClr val="accent6"/>
                </a:solidFill>
              </a:rPr>
              <a:t>Analog and Digital Systems</a:t>
            </a:r>
            <a:br>
              <a:rPr lang="en-US" sz="4800" noProof="0"/>
            </a:br>
            <a:endParaRPr lang="en-US" noProof="0">
              <a:solidFill>
                <a:schemeClr val="accent6"/>
              </a:solidFill>
            </a:endParaRPr>
          </a:p>
        </p:txBody>
      </p:sp>
      <p:sp>
        <p:nvSpPr>
          <p:cNvPr id="36" name="Google Shape;36;p6"/>
          <p:cNvSpPr txBox="1">
            <a:spLocks noGrp="1"/>
          </p:cNvSpPr>
          <p:nvPr>
            <p:ph type="subTitle" idx="1"/>
          </p:nvPr>
        </p:nvSpPr>
        <p:spPr>
          <a:xfrm>
            <a:off x="1419013" y="4842880"/>
            <a:ext cx="9472400" cy="12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Clr>
                <a:srgbClr val="0C5ADB"/>
              </a:buClr>
              <a:buSzPts val="2100"/>
            </a:pPr>
            <a:r>
              <a:rPr lang="en-US" sz="2800" b="1" noProof="0">
                <a:solidFill>
                  <a:srgbClr val="0C5ADB"/>
                </a:solidFill>
              </a:rPr>
              <a:t>Prof. Aldebaro Klautau</a:t>
            </a:r>
            <a:br>
              <a:rPr lang="en-US" sz="2800" b="1" noProof="0"/>
            </a:br>
            <a:r>
              <a:rPr lang="en-US" sz="2800" b="1" noProof="0">
                <a:solidFill>
                  <a:srgbClr val="0C5ADB"/>
                </a:solidFill>
              </a:rPr>
              <a:t>Federal University of Pará (UFPA)</a:t>
            </a:r>
            <a:endParaRPr lang="en-US" noProof="0"/>
          </a:p>
        </p:txBody>
      </p:sp>
      <p:sp>
        <p:nvSpPr>
          <p:cNvPr id="37" name="Google Shape;37;p6"/>
          <p:cNvSpPr txBox="1"/>
          <p:nvPr/>
        </p:nvSpPr>
        <p:spPr>
          <a:xfrm>
            <a:off x="1315311" y="5882400"/>
            <a:ext cx="9680000" cy="9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/>
          <a:p>
            <a:pPr algn="ctr">
              <a:lnSpc>
                <a:spcPct val="90000"/>
              </a:lnSpc>
              <a:buClr>
                <a:srgbClr val="0C5ADB"/>
              </a:buClr>
              <a:buSzPts val="2100"/>
            </a:pPr>
            <a:r>
              <a:rPr lang="en-US" sz="2800" noProof="0">
                <a:solidFill>
                  <a:srgbClr val="0C5ADB"/>
                </a:solidFill>
                <a:latin typeface="Calibri"/>
                <a:ea typeface="Calibri"/>
                <a:cs typeface="Calibri"/>
                <a:sym typeface="Calibri"/>
              </a:rPr>
              <a:t>www.lasse.ufpa.br   &amp;   www.ppgee.ufpa.br</a:t>
            </a:r>
            <a:endParaRPr lang="en-US" sz="2400" noProof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549D744-FC24-FDA2-28A4-7E6CFB501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2474B5E3-8068-7AC8-67B0-608FC08FE3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8550353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Signals vs Systems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06A0EFA1-2974-8706-E2B4-9A4432E7F4DD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Contrasting Signals and Systems</a:t>
            </a:r>
            <a:endParaRPr lang="en-US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7972AD51-A792-D20B-2546-BC7E2EC208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2</a:t>
            </a:fld>
            <a:endParaRPr lang="en-US" noProof="0">
              <a:solidFill>
                <a:schemeClr val="lt1"/>
              </a:solidFill>
            </a:endParaRPr>
          </a:p>
        </p:txBody>
      </p:sp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3C7FA966-BC7A-384D-3A34-6A8B08609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13" y="1495425"/>
            <a:ext cx="10467975" cy="819150"/>
          </a:xfrm>
          <a:prstGeom prst="rect">
            <a:avLst/>
          </a:prstGeom>
          <a:ln w="12700">
            <a:solidFill>
              <a:schemeClr val="tx2">
                <a:lumMod val="10000"/>
              </a:schemeClr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25B4679-AF10-397B-C724-EF373B1A2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598" y="3183058"/>
            <a:ext cx="11718805" cy="319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354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1AAA5657-BC1F-8C01-451E-244506F4C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AA95E654-865C-918F-97D1-73DC4CCBB1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8550353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Linear Systems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7EC5026F-0D9F-BA8F-94F0-E2FC7661FE55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Linear Time-Invariant Systems</a:t>
            </a:r>
            <a:endParaRPr lang="en-US" sz="1600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361D549D-D52B-1A12-C2B0-040AED6BF7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3</a:t>
            </a:fld>
            <a:endParaRPr lang="en-US" noProof="0">
              <a:solidFill>
                <a:schemeClr val="l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A0774B-F54F-5297-040C-F3F9901FA8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868" r="24005" b="19249"/>
          <a:stretch>
            <a:fillRect/>
          </a:stretch>
        </p:blipFill>
        <p:spPr>
          <a:xfrm>
            <a:off x="102757" y="1531069"/>
            <a:ext cx="5465116" cy="2472317"/>
          </a:xfrm>
          <a:prstGeom prst="rect">
            <a:avLst/>
          </a:prstGeom>
        </p:spPr>
      </p:pic>
      <p:pic>
        <p:nvPicPr>
          <p:cNvPr id="6" name="Picture 5" descr="A number and symbols on a white background&#10;&#10;AI-generated content may be incorrect.">
            <a:extLst>
              <a:ext uri="{FF2B5EF4-FFF2-40B4-BE49-F238E27FC236}">
                <a16:creationId xmlns:a16="http://schemas.microsoft.com/office/drawing/2014/main" id="{73078D5E-856F-0F1F-D3E0-88460C969E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798" y="3396820"/>
            <a:ext cx="5328797" cy="1357154"/>
          </a:xfrm>
          <a:prstGeom prst="rect">
            <a:avLst/>
          </a:prstGeom>
        </p:spPr>
      </p:pic>
      <p:sp>
        <p:nvSpPr>
          <p:cNvPr id="8" name="Retângulo: Cantos Arredondados 1">
            <a:extLst>
              <a:ext uri="{FF2B5EF4-FFF2-40B4-BE49-F238E27FC236}">
                <a16:creationId xmlns:a16="http://schemas.microsoft.com/office/drawing/2014/main" id="{1A759728-6926-E8AB-E5F7-3252F01F9AD3}"/>
              </a:ext>
            </a:extLst>
          </p:cNvPr>
          <p:cNvSpPr/>
          <p:nvPr/>
        </p:nvSpPr>
        <p:spPr>
          <a:xfrm>
            <a:off x="6493149" y="2429749"/>
            <a:ext cx="5248446" cy="881510"/>
          </a:xfrm>
          <a:prstGeom prst="roundRect">
            <a:avLst/>
          </a:prstGeom>
          <a:solidFill>
            <a:schemeClr val="tx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 noProof="0">
                <a:latin typeface="Calibri"/>
                <a:ea typeface="Calibri"/>
                <a:cs typeface="Calibri"/>
              </a:rPr>
              <a:t>x[n] is a sum of scaled shifted impulses</a:t>
            </a:r>
          </a:p>
        </p:txBody>
      </p:sp>
      <p:sp>
        <p:nvSpPr>
          <p:cNvPr id="10" name="Retângulo: Cantos Arredondados 1">
            <a:extLst>
              <a:ext uri="{FF2B5EF4-FFF2-40B4-BE49-F238E27FC236}">
                <a16:creationId xmlns:a16="http://schemas.microsoft.com/office/drawing/2014/main" id="{4226479D-B42E-FC09-8876-8F6BFCB8F2ED}"/>
              </a:ext>
            </a:extLst>
          </p:cNvPr>
          <p:cNvSpPr/>
          <p:nvPr/>
        </p:nvSpPr>
        <p:spPr>
          <a:xfrm>
            <a:off x="6412797" y="4865876"/>
            <a:ext cx="5328798" cy="1634012"/>
          </a:xfrm>
          <a:prstGeom prst="roundRect">
            <a:avLst/>
          </a:prstGeom>
          <a:solidFill>
            <a:schemeClr val="tx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latin typeface="Calibri"/>
                <a:ea typeface="Calibri"/>
                <a:cs typeface="Calibri"/>
              </a:rPr>
              <a:t>Using linearity, we obtain that the response to such a signal is the sum of the responses to each scaled shifted impulse</a:t>
            </a:r>
            <a:endParaRPr lang="en-US" sz="2400" b="1" noProof="0">
              <a:latin typeface="Calibri"/>
              <a:ea typeface="Calibri"/>
              <a:cs typeface="Calibri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F032AB32-32D8-3560-615C-8EA63E89B09A}"/>
              </a:ext>
            </a:extLst>
          </p:cNvPr>
          <p:cNvSpPr/>
          <p:nvPr/>
        </p:nvSpPr>
        <p:spPr>
          <a:xfrm>
            <a:off x="607582" y="5731142"/>
            <a:ext cx="5116943" cy="760601"/>
          </a:xfrm>
          <a:prstGeom prst="roundRect">
            <a:avLst/>
          </a:prstGeom>
          <a:solidFill>
            <a:schemeClr val="accent3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noProof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We will focus on LTI systems</a:t>
            </a:r>
          </a:p>
        </p:txBody>
      </p:sp>
      <p:sp>
        <p:nvSpPr>
          <p:cNvPr id="4" name="Retângulo: Cantos Arredondados 1">
            <a:extLst>
              <a:ext uri="{FF2B5EF4-FFF2-40B4-BE49-F238E27FC236}">
                <a16:creationId xmlns:a16="http://schemas.microsoft.com/office/drawing/2014/main" id="{53C11C5A-CBD3-81D5-7DEF-64142F60947B}"/>
              </a:ext>
            </a:extLst>
          </p:cNvPr>
          <p:cNvSpPr/>
          <p:nvPr/>
        </p:nvSpPr>
        <p:spPr>
          <a:xfrm>
            <a:off x="607582" y="4105275"/>
            <a:ext cx="5116943" cy="760601"/>
          </a:xfrm>
          <a:prstGeom prst="roundRect">
            <a:avLst/>
          </a:prstGeom>
          <a:solidFill>
            <a:schemeClr val="tx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200" b="1" noProof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LTI - Linear and Time-Invariant Systems</a:t>
            </a:r>
          </a:p>
        </p:txBody>
      </p:sp>
      <p:sp>
        <p:nvSpPr>
          <p:cNvPr id="7" name="Retângulo: Cantos Arredondados 1">
            <a:extLst>
              <a:ext uri="{FF2B5EF4-FFF2-40B4-BE49-F238E27FC236}">
                <a16:creationId xmlns:a16="http://schemas.microsoft.com/office/drawing/2014/main" id="{BC67B4B8-473D-74BB-4B02-A2764FB1DE57}"/>
              </a:ext>
            </a:extLst>
          </p:cNvPr>
          <p:cNvSpPr/>
          <p:nvPr/>
        </p:nvSpPr>
        <p:spPr>
          <a:xfrm>
            <a:off x="607582" y="4912809"/>
            <a:ext cx="5116943" cy="760601"/>
          </a:xfrm>
          <a:prstGeom prst="roundRect">
            <a:avLst/>
          </a:prstGeom>
          <a:solidFill>
            <a:schemeClr val="tx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200" b="1" noProof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LCCDE – Linear Constant-Coefficient difference equations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30022119-17FB-C1C5-6C82-9A0496DB8F61}"/>
              </a:ext>
            </a:extLst>
          </p:cNvPr>
          <p:cNvSpPr/>
          <p:nvPr/>
        </p:nvSpPr>
        <p:spPr>
          <a:xfrm>
            <a:off x="6493149" y="719001"/>
            <a:ext cx="5248446" cy="1565380"/>
          </a:xfrm>
          <a:prstGeom prst="roundRect">
            <a:avLst/>
          </a:prstGeom>
          <a:solidFill>
            <a:schemeClr val="accent3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noProof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 Linear systems, the linear combination of inputs lead to the same linear combination of their respective outputs</a:t>
            </a:r>
          </a:p>
        </p:txBody>
      </p:sp>
    </p:spTree>
    <p:extLst>
      <p:ext uri="{BB962C8B-B14F-4D97-AF65-F5344CB8AC3E}">
        <p14:creationId xmlns:p14="http://schemas.microsoft.com/office/powerpoint/2010/main" val="2143566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195550C-0EAE-3EC5-0CFF-1A0784DE0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CECE8AD0-CFDA-07ED-2B8E-05579B3AE5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8550353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Time-Invariant Systems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38DAC448-1D8F-1610-176D-E62C48F96A6E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Linear Time-Invariant Systems</a:t>
            </a:r>
            <a:endParaRPr lang="en-US" sz="1600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DC9077F9-E674-F7EC-2CFC-D8B4C318DC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4</a:t>
            </a:fld>
            <a:endParaRPr lang="en-US" noProof="0">
              <a:solidFill>
                <a:schemeClr val="l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tângulo: Cantos Arredondados 1">
                <a:extLst>
                  <a:ext uri="{FF2B5EF4-FFF2-40B4-BE49-F238E27FC236}">
                    <a16:creationId xmlns:a16="http://schemas.microsoft.com/office/drawing/2014/main" id="{C9E5BCD2-3DBB-EAC3-54F4-2076480FC672}"/>
                  </a:ext>
                </a:extLst>
              </p:cNvPr>
              <p:cNvSpPr/>
              <p:nvPr/>
            </p:nvSpPr>
            <p:spPr>
              <a:xfrm>
                <a:off x="359078" y="1192630"/>
                <a:ext cx="11473844" cy="851443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2800" b="1" noProof="0">
                    <a:latin typeface="Calibri"/>
                    <a:ea typeface="Calibri"/>
                    <a:cs typeface="Calibri"/>
                  </a:rPr>
                  <a:t>By time-invariance, the response to any signal </a:t>
                </a:r>
                <a14:m>
                  <m:oMath xmlns:m="http://schemas.openxmlformats.org/officeDocument/2006/math">
                    <m:r>
                      <a:rPr lang="en-US" sz="2800" b="1" i="1" noProof="0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𝒙</m:t>
                    </m:r>
                    <m:r>
                      <a:rPr lang="en-US" sz="2800" b="1" i="1" noProof="0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[</m:t>
                    </m:r>
                    <m:r>
                      <a:rPr lang="en-US" sz="2800" b="1" i="1" noProof="0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𝒏</m:t>
                    </m:r>
                    <m:r>
                      <a:rPr lang="pt-BR" sz="2800" b="1" i="1" noProof="0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−</m:t>
                    </m:r>
                    <m:r>
                      <a:rPr lang="pt-BR" sz="2800" b="1" i="1" noProof="0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𝒌</m:t>
                    </m:r>
                    <m:r>
                      <a:rPr lang="en-US" sz="2800" b="1" i="1" noProof="0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]</m:t>
                    </m:r>
                  </m:oMath>
                </a14:m>
                <a:r>
                  <a:rPr lang="en-US" sz="2800" b="1" noProof="0">
                    <a:latin typeface="Calibri"/>
                    <a:ea typeface="Calibri"/>
                    <a:cs typeface="Calibri"/>
                  </a:rPr>
                  <a:t> will be </a:t>
                </a:r>
                <a14:m>
                  <m:oMath xmlns:m="http://schemas.openxmlformats.org/officeDocument/2006/math">
                    <m:r>
                      <a:rPr lang="en-US" sz="2800" b="1" i="1" noProof="0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𝒚</m:t>
                    </m:r>
                    <m:r>
                      <a:rPr lang="en-US" sz="2800" b="1" i="1" noProof="0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[</m:t>
                    </m:r>
                    <m:r>
                      <a:rPr lang="en-US" sz="2800" b="1" i="1" noProof="0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𝒏</m:t>
                    </m:r>
                    <m:r>
                      <a:rPr lang="en-US" sz="2800" b="1" i="1" noProof="0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−</m:t>
                    </m:r>
                    <m:r>
                      <a:rPr lang="en-US" sz="2800" b="1" i="1" noProof="0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𝒌</m:t>
                    </m:r>
                    <m:r>
                      <a:rPr lang="en-US" sz="2800" b="1" i="1" noProof="0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]</m:t>
                    </m:r>
                  </m:oMath>
                </a14:m>
                <a:endParaRPr lang="en-US" sz="2800" b="1" noProof="0">
                  <a:latin typeface="Calibri"/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" name="Retângulo: Cantos Arredondados 1">
                <a:extLst>
                  <a:ext uri="{FF2B5EF4-FFF2-40B4-BE49-F238E27FC236}">
                    <a16:creationId xmlns:a16="http://schemas.microsoft.com/office/drawing/2014/main" id="{C9E5BCD2-3DBB-EAC3-54F4-2076480FC6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78" y="1192630"/>
                <a:ext cx="11473844" cy="85144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Agrupar 3">
            <a:extLst>
              <a:ext uri="{FF2B5EF4-FFF2-40B4-BE49-F238E27FC236}">
                <a16:creationId xmlns:a16="http://schemas.microsoft.com/office/drawing/2014/main" id="{279F3C18-E9AF-61D3-B945-53C5645B5B9E}"/>
              </a:ext>
            </a:extLst>
          </p:cNvPr>
          <p:cNvGrpSpPr/>
          <p:nvPr/>
        </p:nvGrpSpPr>
        <p:grpSpPr>
          <a:xfrm>
            <a:off x="3598799" y="2148737"/>
            <a:ext cx="8593201" cy="4325854"/>
            <a:chOff x="1228096" y="1757722"/>
            <a:chExt cx="9717780" cy="4891972"/>
          </a:xfrm>
        </p:grpSpPr>
        <p:pic>
          <p:nvPicPr>
            <p:cNvPr id="8" name="Picture 7" descr="A group of mathematical equations&#10;&#10;AI-generated content may be incorrect.">
              <a:extLst>
                <a:ext uri="{FF2B5EF4-FFF2-40B4-BE49-F238E27FC236}">
                  <a16:creationId xmlns:a16="http://schemas.microsoft.com/office/drawing/2014/main" id="{C6C3DD7C-7733-DB51-A44D-2B2BA3F92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94" r="-153" b="-226"/>
            <a:stretch>
              <a:fillRect/>
            </a:stretch>
          </p:blipFill>
          <p:spPr>
            <a:xfrm>
              <a:off x="1228096" y="1757722"/>
              <a:ext cx="9390757" cy="4891972"/>
            </a:xfrm>
            <a:prstGeom prst="rect">
              <a:avLst/>
            </a:prstGeom>
          </p:spPr>
        </p:pic>
        <p:pic>
          <p:nvPicPr>
            <p:cNvPr id="10" name="Picture 9" descr="A white background with black text&#10;&#10;AI-generated content may be incorrect.">
              <a:extLst>
                <a:ext uri="{FF2B5EF4-FFF2-40B4-BE49-F238E27FC236}">
                  <a16:creationId xmlns:a16="http://schemas.microsoft.com/office/drawing/2014/main" id="{B3B5DC40-1580-C8C1-4669-F55720B61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9853" t="73593" r="28362" b="7792"/>
            <a:stretch>
              <a:fillRect/>
            </a:stretch>
          </p:blipFill>
          <p:spPr>
            <a:xfrm>
              <a:off x="7200850" y="5523874"/>
              <a:ext cx="3745026" cy="620568"/>
            </a:xfrm>
            <a:prstGeom prst="rect">
              <a:avLst/>
            </a:prstGeom>
          </p:spPr>
        </p:pic>
        <p:pic>
          <p:nvPicPr>
            <p:cNvPr id="11" name="Picture 10" descr="A white background with black text&#10;&#10;AI-generated content may be incorrect.">
              <a:extLst>
                <a:ext uri="{FF2B5EF4-FFF2-40B4-BE49-F238E27FC236}">
                  <a16:creationId xmlns:a16="http://schemas.microsoft.com/office/drawing/2014/main" id="{7B60C095-DC45-BD86-2D99-0D3EDA659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77111" t="41304" r="1102" b="40435"/>
            <a:stretch>
              <a:fillRect/>
            </a:stretch>
          </p:blipFill>
          <p:spPr>
            <a:xfrm>
              <a:off x="8077516" y="3900280"/>
              <a:ext cx="2562890" cy="610512"/>
            </a:xfrm>
            <a:prstGeom prst="rect">
              <a:avLst/>
            </a:prstGeom>
          </p:spPr>
        </p:pic>
      </p:grp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82F4E69-FA6E-3A9C-9E90-1FDDE1760E92}"/>
              </a:ext>
            </a:extLst>
          </p:cNvPr>
          <p:cNvSpPr/>
          <p:nvPr/>
        </p:nvSpPr>
        <p:spPr>
          <a:xfrm>
            <a:off x="233202" y="2549565"/>
            <a:ext cx="3138648" cy="2033646"/>
          </a:xfrm>
          <a:prstGeom prst="roundRect">
            <a:avLst/>
          </a:prstGeom>
          <a:solidFill>
            <a:schemeClr val="accent2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noProof="0">
                <a:latin typeface="Calibri"/>
                <a:ea typeface="Calibri"/>
                <a:cs typeface="Calibri"/>
              </a:rPr>
              <a:t>If a system is also linear, we only need the response to a single impulse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ângulo: Cantos Arredondados 5">
                <a:extLst>
                  <a:ext uri="{FF2B5EF4-FFF2-40B4-BE49-F238E27FC236}">
                    <a16:creationId xmlns:a16="http://schemas.microsoft.com/office/drawing/2014/main" id="{24DE2054-0B53-3077-D8BC-8C1F2AD2A42F}"/>
                  </a:ext>
                </a:extLst>
              </p:cNvPr>
              <p:cNvSpPr/>
              <p:nvPr/>
            </p:nvSpPr>
            <p:spPr>
              <a:xfrm>
                <a:off x="233201" y="4770109"/>
                <a:ext cx="3138649" cy="1234997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dirty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𝓗</m:t>
                      </m:r>
                      <m:r>
                        <a:rPr lang="pt-BR" sz="2800" b="1" i="1" dirty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{</m:t>
                      </m:r>
                      <m:r>
                        <a:rPr lang="pt-BR" sz="2800" b="1" i="1" dirty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𝜹</m:t>
                      </m:r>
                      <m:r>
                        <a:rPr lang="pt-BR" sz="2800" b="1" i="1" dirty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[</m:t>
                      </m:r>
                      <m:r>
                        <a:rPr lang="pt-BR" sz="2800" b="1" i="1" dirty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𝒏</m:t>
                      </m:r>
                      <m:r>
                        <a:rPr lang="pt-BR" sz="2800" b="1" i="1" dirty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−</m:t>
                      </m:r>
                      <m:r>
                        <a:rPr lang="pt-BR" sz="2800" b="1" i="1" dirty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𝒌</m:t>
                      </m:r>
                      <m:r>
                        <a:rPr lang="pt-BR" sz="2800" b="1" i="1" dirty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]}=</m:t>
                      </m:r>
                      <m:r>
                        <a:rPr lang="pt-BR" sz="2800" b="1" i="1" dirty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𝒉</m:t>
                      </m:r>
                      <m:r>
                        <a:rPr lang="pt-BR" sz="2800" b="1" i="1" dirty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[</m:t>
                      </m:r>
                      <m:r>
                        <a:rPr lang="pt-BR" sz="2800" b="1" i="1" dirty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𝒏</m:t>
                      </m:r>
                      <m:r>
                        <a:rPr lang="pt-BR" sz="2800" b="1" i="1" dirty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−</m:t>
                      </m:r>
                      <m:r>
                        <a:rPr lang="pt-BR" sz="2800" b="1" i="1" dirty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𝒌</m:t>
                      </m:r>
                      <m:r>
                        <a:rPr lang="pt-BR" sz="2800" b="1" i="1" dirty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]</m:t>
                      </m:r>
                    </m:oMath>
                  </m:oMathPara>
                </a14:m>
                <a:endParaRPr lang="en-US" sz="2800" b="1" noProof="0">
                  <a:latin typeface="Calibri"/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6" name="Retângulo: Cantos Arredondados 5">
                <a:extLst>
                  <a:ext uri="{FF2B5EF4-FFF2-40B4-BE49-F238E27FC236}">
                    <a16:creationId xmlns:a16="http://schemas.microsoft.com/office/drawing/2014/main" id="{24DE2054-0B53-3077-D8BC-8C1F2AD2A4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01" y="4770109"/>
                <a:ext cx="3138649" cy="1234997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7413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90A0E05-F976-6539-83B1-E9FC63A19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467B84DB-29DB-A2BA-C62C-450F2C26CA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746" y="507132"/>
            <a:ext cx="11727749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LTI system impulse response example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FD46D8B0-6012-55DC-E04C-90123CC23CD4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Linear Time-Invariant Systems</a:t>
            </a:r>
            <a:endParaRPr lang="en-US" sz="1600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851943CE-2415-68C6-B2C9-FADDEBF98C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5</a:t>
            </a:fld>
            <a:endParaRPr lang="en-US" noProof="0">
              <a:solidFill>
                <a:schemeClr val="lt1"/>
              </a:solidFill>
            </a:endParaRPr>
          </a:p>
        </p:txBody>
      </p:sp>
      <p:pic>
        <p:nvPicPr>
          <p:cNvPr id="13" name="Picture 12" descr="A black and white symbol&#10;&#10;AI-generated content may be incorrect.">
            <a:extLst>
              <a:ext uri="{FF2B5EF4-FFF2-40B4-BE49-F238E27FC236}">
                <a16:creationId xmlns:a16="http://schemas.microsoft.com/office/drawing/2014/main" id="{2566FF6C-F095-FE54-890D-338364FDC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28" y="1569109"/>
            <a:ext cx="4371256" cy="52801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A2DE8E3-46B5-7C86-6D03-2F452BE2373A}"/>
              </a:ext>
            </a:extLst>
          </p:cNvPr>
          <p:cNvSpPr txBox="1"/>
          <p:nvPr/>
        </p:nvSpPr>
        <p:spPr>
          <a:xfrm>
            <a:off x="327385" y="1066321"/>
            <a:ext cx="1142712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noProof="0">
                <a:solidFill>
                  <a:srgbClr val="0C5ADB"/>
                </a:solidFill>
                <a:latin typeface="Calibri"/>
                <a:ea typeface="Calibri"/>
                <a:cs typeface="Calibri"/>
              </a:rPr>
              <a:t>Assume the impulse response of an LTI system: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69CE58-ACEC-94D2-43AE-E2C01E6D0DB9}"/>
              </a:ext>
            </a:extLst>
          </p:cNvPr>
          <p:cNvSpPr txBox="1"/>
          <p:nvPr/>
        </p:nvSpPr>
        <p:spPr>
          <a:xfrm>
            <a:off x="327384" y="2115868"/>
            <a:ext cx="546052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noProof="0">
                <a:solidFill>
                  <a:srgbClr val="0C5ADB"/>
                </a:solidFill>
                <a:latin typeface="Calibri"/>
                <a:ea typeface="Calibri"/>
                <a:cs typeface="Calibri"/>
              </a:rPr>
              <a:t>Now, for the input signal below:</a:t>
            </a:r>
          </a:p>
        </p:txBody>
      </p:sp>
      <p:pic>
        <p:nvPicPr>
          <p:cNvPr id="17" name="Picture 16" descr="A black and white math symbol&#10;&#10;AI-generated content may be incorrect.">
            <a:extLst>
              <a:ext uri="{FF2B5EF4-FFF2-40B4-BE49-F238E27FC236}">
                <a16:creationId xmlns:a16="http://schemas.microsoft.com/office/drawing/2014/main" id="{650B7ACE-917D-F164-EF05-60B335D58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937" y="2636360"/>
            <a:ext cx="4408997" cy="50698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00BF4B0-5108-19D7-021E-245FD1D785C3}"/>
              </a:ext>
            </a:extLst>
          </p:cNvPr>
          <p:cNvSpPr txBox="1"/>
          <p:nvPr/>
        </p:nvSpPr>
        <p:spPr>
          <a:xfrm>
            <a:off x="330680" y="3227719"/>
            <a:ext cx="546339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noProof="0">
                <a:solidFill>
                  <a:srgbClr val="0C5ADB"/>
                </a:solidFill>
                <a:latin typeface="Calibri"/>
                <a:ea typeface="Calibri"/>
                <a:cs typeface="Calibri"/>
              </a:rPr>
              <a:t>We</a:t>
            </a:r>
            <a:r>
              <a:rPr lang="en-US" sz="2800" b="0" i="0" u="none" strike="noStrike" baseline="0" noProof="0">
                <a:solidFill>
                  <a:srgbClr val="0C5ADB"/>
                </a:solidFill>
                <a:latin typeface="Calibri"/>
                <a:ea typeface="Calibri"/>
                <a:cs typeface="Calibri"/>
              </a:rPr>
              <a:t> have</a:t>
            </a:r>
            <a:r>
              <a:rPr lang="en-US" sz="2800" noProof="0">
                <a:solidFill>
                  <a:srgbClr val="0C5ADB"/>
                </a:solidFill>
                <a:latin typeface="Calibri"/>
                <a:ea typeface="Calibri"/>
                <a:cs typeface="Calibri"/>
              </a:rPr>
              <a:t>:</a:t>
            </a:r>
          </a:p>
        </p:txBody>
      </p:sp>
      <p:pic>
        <p:nvPicPr>
          <p:cNvPr id="19" name="Picture 18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D6DE47D5-3A59-826F-2124-CC18C6EC84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785" y="3600271"/>
            <a:ext cx="11549332" cy="294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813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29930D7-99DB-1DE2-7FE8-55770BB92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567493F9-0B97-7D8B-C3CC-C9E1837965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9575774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The convolution operator as the core of LTI Systems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6DDFD3DF-97C6-D562-D99C-6325CD766671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Linear Time-Invariant Systems</a:t>
            </a:r>
            <a:endParaRPr lang="en-US" sz="1600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C4ECF5A1-0D3F-B0D1-B5BF-B310CC913D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6</a:t>
            </a:fld>
            <a:endParaRPr lang="en-US" noProof="0">
              <a:solidFill>
                <a:schemeClr val="l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tângulo: Cantos Arredondados 12">
                <a:extLst>
                  <a:ext uri="{FF2B5EF4-FFF2-40B4-BE49-F238E27FC236}">
                    <a16:creationId xmlns:a16="http://schemas.microsoft.com/office/drawing/2014/main" id="{DC27A5F5-3BBE-7BB8-7774-9786B03A34CA}"/>
                  </a:ext>
                </a:extLst>
              </p:cNvPr>
              <p:cNvSpPr/>
              <p:nvPr/>
            </p:nvSpPr>
            <p:spPr>
              <a:xfrm>
                <a:off x="2554664" y="3122069"/>
                <a:ext cx="4607767" cy="1249087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noProof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noProof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b="1" i="1" noProof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800" b="1" i="1" noProof="0" smtClean="0">
                          <a:latin typeface="Cambria Math" panose="02040503050406030204" pitchFamily="18" charset="0"/>
                        </a:rPr>
                        <m:t>]=</m:t>
                      </m:r>
                      <m:nary>
                        <m:naryPr>
                          <m:chr m:val="∑"/>
                          <m:ctrlP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𝜹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2800" b="1" noProof="0"/>
              </a:p>
            </p:txBody>
          </p:sp>
        </mc:Choice>
        <mc:Fallback xmlns="">
          <p:sp>
            <p:nvSpPr>
              <p:cNvPr id="13" name="Retângulo: Cantos Arredondados 12">
                <a:extLst>
                  <a:ext uri="{FF2B5EF4-FFF2-40B4-BE49-F238E27FC236}">
                    <a16:creationId xmlns:a16="http://schemas.microsoft.com/office/drawing/2014/main" id="{DC27A5F5-3BBE-7BB8-7774-9786B03A34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4664" y="3122069"/>
                <a:ext cx="4607767" cy="124908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tângulo: Cantos Arredondados 13">
                <a:extLst>
                  <a:ext uri="{FF2B5EF4-FFF2-40B4-BE49-F238E27FC236}">
                    <a16:creationId xmlns:a16="http://schemas.microsoft.com/office/drawing/2014/main" id="{F7F504BF-AD6F-F2C3-0AAA-55C15767B518}"/>
                  </a:ext>
                </a:extLst>
              </p:cNvPr>
              <p:cNvSpPr/>
              <p:nvPr/>
            </p:nvSpPr>
            <p:spPr>
              <a:xfrm>
                <a:off x="7341218" y="3122069"/>
                <a:ext cx="4607767" cy="1249087"/>
              </a:xfrm>
              <a:prstGeom prst="roundRect">
                <a:avLst/>
              </a:prstGeom>
              <a:solidFill>
                <a:schemeClr val="accent3"/>
              </a:solidFill>
              <a:ln>
                <a:solidFill>
                  <a:schemeClr val="tx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noProof="0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noProof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b="1" i="1" noProof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800" b="1" i="1" noProof="0" smtClean="0">
                          <a:latin typeface="Cambria Math" panose="02040503050406030204" pitchFamily="18" charset="0"/>
                        </a:rPr>
                        <m:t>]=</m:t>
                      </m:r>
                      <m:nary>
                        <m:naryPr>
                          <m:chr m:val="∑"/>
                          <m:ctrlP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m:rPr>
                              <m:brk m:alnAt="23"/>
                            </m:rP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 noProof="0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</m:d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𝒉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2800" b="1" noProof="0"/>
              </a:p>
            </p:txBody>
          </p:sp>
        </mc:Choice>
        <mc:Fallback xmlns="">
          <p:sp>
            <p:nvSpPr>
              <p:cNvPr id="14" name="Retângulo: Cantos Arredondados 13">
                <a:extLst>
                  <a:ext uri="{FF2B5EF4-FFF2-40B4-BE49-F238E27FC236}">
                    <a16:creationId xmlns:a16="http://schemas.microsoft.com/office/drawing/2014/main" id="{F7F504BF-AD6F-F2C3-0AAA-55C15767B5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1218" y="3122069"/>
                <a:ext cx="4607767" cy="124908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tângulo: Cantos Arredondados 16">
                <a:extLst>
                  <a:ext uri="{FF2B5EF4-FFF2-40B4-BE49-F238E27FC236}">
                    <a16:creationId xmlns:a16="http://schemas.microsoft.com/office/drawing/2014/main" id="{900AA5A1-2F01-6221-04C9-CB7056244D04}"/>
                  </a:ext>
                </a:extLst>
              </p:cNvPr>
              <p:cNvSpPr/>
              <p:nvPr/>
            </p:nvSpPr>
            <p:spPr>
              <a:xfrm>
                <a:off x="2554664" y="4519389"/>
                <a:ext cx="4607767" cy="1249087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noProof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noProof="0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800" b="1" i="1" noProof="0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𝝉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𝜹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𝝉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</m:nary>
                    </m:oMath>
                  </m:oMathPara>
                </a14:m>
                <a:endParaRPr lang="en-US" sz="2800" b="1" noProof="0"/>
              </a:p>
            </p:txBody>
          </p:sp>
        </mc:Choice>
        <mc:Fallback xmlns="">
          <p:sp>
            <p:nvSpPr>
              <p:cNvPr id="17" name="Retângulo: Cantos Arredondados 16">
                <a:extLst>
                  <a:ext uri="{FF2B5EF4-FFF2-40B4-BE49-F238E27FC236}">
                    <a16:creationId xmlns:a16="http://schemas.microsoft.com/office/drawing/2014/main" id="{900AA5A1-2F01-6221-04C9-CB7056244D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4664" y="4519389"/>
                <a:ext cx="4607767" cy="1249087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tângulo: Cantos Arredondados 17">
                <a:extLst>
                  <a:ext uri="{FF2B5EF4-FFF2-40B4-BE49-F238E27FC236}">
                    <a16:creationId xmlns:a16="http://schemas.microsoft.com/office/drawing/2014/main" id="{710DDF7D-E238-A8B5-C186-E644DA8ECAAB}"/>
                  </a:ext>
                </a:extLst>
              </p:cNvPr>
              <p:cNvSpPr/>
              <p:nvPr/>
            </p:nvSpPr>
            <p:spPr>
              <a:xfrm>
                <a:off x="7341218" y="4519389"/>
                <a:ext cx="4607767" cy="1249087"/>
              </a:xfrm>
              <a:prstGeom prst="roundRect">
                <a:avLst/>
              </a:prstGeom>
              <a:solidFill>
                <a:schemeClr val="accent3"/>
              </a:solidFill>
              <a:ln>
                <a:solidFill>
                  <a:schemeClr val="tx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noProof="0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noProof="0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800" b="1" i="1" noProof="0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en-US" sz="2800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 noProof="0" smtClean="0">
                                  <a:latin typeface="Cambria Math" panose="02040503050406030204" pitchFamily="18" charset="0"/>
                                </a:rPr>
                                <m:t>𝝉</m:t>
                              </m:r>
                            </m:e>
                          </m:d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𝒉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𝝉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</m:nary>
                    </m:oMath>
                  </m:oMathPara>
                </a14:m>
                <a:endParaRPr lang="en-US" sz="2800" b="1" noProof="0"/>
              </a:p>
            </p:txBody>
          </p:sp>
        </mc:Choice>
        <mc:Fallback xmlns="">
          <p:sp>
            <p:nvSpPr>
              <p:cNvPr id="18" name="Retângulo: Cantos Arredondados 17">
                <a:extLst>
                  <a:ext uri="{FF2B5EF4-FFF2-40B4-BE49-F238E27FC236}">
                    <a16:creationId xmlns:a16="http://schemas.microsoft.com/office/drawing/2014/main" id="{710DDF7D-E238-A8B5-C186-E644DA8ECA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1218" y="4519389"/>
                <a:ext cx="4607767" cy="1249087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1ABB5B44-2AC6-609F-0F50-8936E63354F0}"/>
              </a:ext>
            </a:extLst>
          </p:cNvPr>
          <p:cNvSpPr/>
          <p:nvPr/>
        </p:nvSpPr>
        <p:spPr>
          <a:xfrm>
            <a:off x="207388" y="3145617"/>
            <a:ext cx="2139884" cy="1249086"/>
          </a:xfrm>
          <a:prstGeom prst="roundRect">
            <a:avLst/>
          </a:prstGeom>
          <a:solidFill>
            <a:schemeClr val="tx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noProof="0"/>
              <a:t>Convolution Formal Expression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F3150FA2-65A3-BB60-45D0-8555AF0EBF00}"/>
              </a:ext>
            </a:extLst>
          </p:cNvPr>
          <p:cNvSpPr/>
          <p:nvPr/>
        </p:nvSpPr>
        <p:spPr>
          <a:xfrm>
            <a:off x="207388" y="4519390"/>
            <a:ext cx="2139884" cy="1249086"/>
          </a:xfrm>
          <a:prstGeom prst="roundRect">
            <a:avLst/>
          </a:prstGeom>
          <a:solidFill>
            <a:schemeClr val="tx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noProof="0"/>
              <a:t>Continuous </a:t>
            </a:r>
          </a:p>
          <a:p>
            <a:pPr algn="ctr"/>
            <a:r>
              <a:rPr lang="en-US" sz="2000" b="1" noProof="0"/>
              <a:t>Convolution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tângulo: Cantos Arredondados 11">
                <a:extLst>
                  <a:ext uri="{FF2B5EF4-FFF2-40B4-BE49-F238E27FC236}">
                    <a16:creationId xmlns:a16="http://schemas.microsoft.com/office/drawing/2014/main" id="{65B001F7-8535-74B1-CB9E-9D95681E2A4B}"/>
                  </a:ext>
                </a:extLst>
              </p:cNvPr>
              <p:cNvSpPr/>
              <p:nvPr/>
            </p:nvSpPr>
            <p:spPr>
              <a:xfrm>
                <a:off x="1655958" y="1798924"/>
                <a:ext cx="4607767" cy="732435"/>
              </a:xfrm>
              <a:prstGeom prst="roundRect">
                <a:avLst/>
              </a:prstGeom>
              <a:solidFill>
                <a:schemeClr val="accent3"/>
              </a:solidFill>
              <a:ln>
                <a:solidFill>
                  <a:schemeClr val="tx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noProof="0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3200" b="1" i="1" noProof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3200" b="1" i="1" noProof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200" b="1" i="1" noProof="0" smtClean="0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pt-BR" sz="3200" b="1" i="1" noProof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sz="3200" b="1" i="1" noProof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pt-BR" sz="3200" b="1" i="1" noProof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pt-BR" sz="3200" b="1" i="1" noProof="0" smtClean="0">
                          <a:latin typeface="Cambria Math" panose="02040503050406030204" pitchFamily="18" charset="0"/>
                        </a:rPr>
                        <m:t>]∗</m:t>
                      </m:r>
                      <m:r>
                        <a:rPr lang="pt-BR" sz="3200" b="1" i="1" noProof="0" smtClean="0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pt-BR" sz="3200" b="1" i="1" noProof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pt-BR" sz="3200" b="1" i="1" noProof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pt-BR" sz="3200" b="1" i="1" noProof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3200" b="1" noProof="0"/>
              </a:p>
            </p:txBody>
          </p:sp>
        </mc:Choice>
        <mc:Fallback xmlns="">
          <p:sp>
            <p:nvSpPr>
              <p:cNvPr id="12" name="Retângulo: Cantos Arredondados 11">
                <a:extLst>
                  <a:ext uri="{FF2B5EF4-FFF2-40B4-BE49-F238E27FC236}">
                    <a16:creationId xmlns:a16="http://schemas.microsoft.com/office/drawing/2014/main" id="{65B001F7-8535-74B1-CB9E-9D95681E2A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958" y="1798924"/>
                <a:ext cx="4607767" cy="73243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tângulo: Cantos Arredondados 14">
                <a:extLst>
                  <a:ext uri="{FF2B5EF4-FFF2-40B4-BE49-F238E27FC236}">
                    <a16:creationId xmlns:a16="http://schemas.microsoft.com/office/drawing/2014/main" id="{70E95D35-C847-9961-C4F5-A4C2566E50E9}"/>
                  </a:ext>
                </a:extLst>
              </p:cNvPr>
              <p:cNvSpPr/>
              <p:nvPr/>
            </p:nvSpPr>
            <p:spPr>
              <a:xfrm>
                <a:off x="6466083" y="1792352"/>
                <a:ext cx="4607767" cy="732435"/>
              </a:xfrm>
              <a:prstGeom prst="roundRect">
                <a:avLst/>
              </a:prstGeom>
              <a:solidFill>
                <a:schemeClr val="accent3"/>
              </a:solidFill>
              <a:ln>
                <a:solidFill>
                  <a:schemeClr val="tx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noProof="0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pt-BR" sz="3200" b="1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b="1" i="1" noProof="0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pt-BR" sz="3200" b="1" i="1" noProof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3200" b="1" i="1" noProof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sz="3200" b="1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b="1" i="1" noProof="0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pt-BR" sz="3200" b="1" i="1" noProof="0" smtClean="0"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pt-BR" sz="3200" b="1" i="1" noProof="0" smtClean="0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pt-BR" sz="3200" b="1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b="1" i="1" noProof="0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pt-BR" sz="3200" b="1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b="1" noProof="0"/>
              </a:p>
            </p:txBody>
          </p:sp>
        </mc:Choice>
        <mc:Fallback xmlns="">
          <p:sp>
            <p:nvSpPr>
              <p:cNvPr id="15" name="Retângulo: Cantos Arredondados 14">
                <a:extLst>
                  <a:ext uri="{FF2B5EF4-FFF2-40B4-BE49-F238E27FC236}">
                    <a16:creationId xmlns:a16="http://schemas.microsoft.com/office/drawing/2014/main" id="{70E95D35-C847-9961-C4F5-A4C2566E50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6083" y="1792352"/>
                <a:ext cx="4607767" cy="732435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9982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A7B86F8F-16A9-74B4-E503-5728941B9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E847F12B-C7EF-AD85-D278-5C84E10DDE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78901"/>
            <a:ext cx="11736898" cy="74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Graphical example of convolution (impulse) - example 1/3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662C42C6-6DF9-EC69-ACDC-90DFDFE95AFD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Linear Time-Invariant Systems</a:t>
            </a:r>
            <a:endParaRPr lang="en-US" sz="1600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44D10A60-6757-34F3-CF1C-A1A7E0E334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7</a:t>
            </a:fld>
            <a:endParaRPr lang="en-US" noProof="0">
              <a:solidFill>
                <a:schemeClr val="lt1"/>
              </a:solidFill>
            </a:endParaRPr>
          </a:p>
        </p:txBody>
      </p:sp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59EA0EB8-DEC4-99B4-CE8E-C0A94D707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5292" y="1221290"/>
            <a:ext cx="8134523" cy="51967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ângulo: Cantos Arredondados 13">
                <a:extLst>
                  <a:ext uri="{FF2B5EF4-FFF2-40B4-BE49-F238E27FC236}">
                    <a16:creationId xmlns:a16="http://schemas.microsoft.com/office/drawing/2014/main" id="{33884B1E-C033-DF16-1474-0FF86565A4CD}"/>
                  </a:ext>
                </a:extLst>
              </p:cNvPr>
              <p:cNvSpPr/>
              <p:nvPr/>
            </p:nvSpPr>
            <p:spPr>
              <a:xfrm>
                <a:off x="153046" y="4754008"/>
                <a:ext cx="3773372" cy="1105314"/>
              </a:xfrm>
              <a:prstGeom prst="roundRect">
                <a:avLst/>
              </a:prstGeom>
              <a:solidFill>
                <a:schemeClr val="accent3"/>
              </a:solidFill>
              <a:ln>
                <a:solidFill>
                  <a:schemeClr val="tx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noProof="0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400" b="1" i="1" noProof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b="1" i="1" noProof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noProof="0" smtClean="0">
                          <a:latin typeface="Cambria Math" panose="02040503050406030204" pitchFamily="18" charset="0"/>
                        </a:rPr>
                        <m:t>]=</m:t>
                      </m:r>
                      <m:nary>
                        <m:naryPr>
                          <m:chr m:val="∑"/>
                          <m:ctrlPr>
                            <a:rPr lang="en-US" sz="2400" b="1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1" i="1" noProof="0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m:rPr>
                              <m:brk m:alnAt="23"/>
                            </m:rPr>
                            <a:rPr lang="en-US" sz="2400" b="1" i="1" noProof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 noProof="0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sz="2400" b="1" i="1" noProof="0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400" b="1" i="1" noProof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noProof="0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</m:d>
                          <m:r>
                            <a:rPr lang="en-US" sz="2400" b="1" i="1" noProof="0" smtClean="0">
                              <a:latin typeface="Cambria Math" panose="02040503050406030204" pitchFamily="18" charset="0"/>
                            </a:rPr>
                            <m:t>𝒉</m:t>
                          </m:r>
                          <m:r>
                            <a:rPr lang="en-US" sz="2400" b="1" i="1" noProof="0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1" i="1" noProof="0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400" b="1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noProof="0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400" b="1" i="1" noProof="0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2400" b="1" noProof="0"/>
              </a:p>
            </p:txBody>
          </p:sp>
        </mc:Choice>
        <mc:Fallback xmlns="">
          <p:sp>
            <p:nvSpPr>
              <p:cNvPr id="6" name="Retângulo: Cantos Arredondados 13">
                <a:extLst>
                  <a:ext uri="{FF2B5EF4-FFF2-40B4-BE49-F238E27FC236}">
                    <a16:creationId xmlns:a16="http://schemas.microsoft.com/office/drawing/2014/main" id="{33884B1E-C033-DF16-1474-0FF86565A4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046" y="4754008"/>
                <a:ext cx="3773372" cy="1105314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tângulo: Cantos Arredondados 1">
                <a:extLst>
                  <a:ext uri="{FF2B5EF4-FFF2-40B4-BE49-F238E27FC236}">
                    <a16:creationId xmlns:a16="http://schemas.microsoft.com/office/drawing/2014/main" id="{BB421B7D-5630-78DA-7AAC-7744ABD94B49}"/>
                  </a:ext>
                </a:extLst>
              </p:cNvPr>
              <p:cNvSpPr/>
              <p:nvPr/>
            </p:nvSpPr>
            <p:spPr>
              <a:xfrm>
                <a:off x="150187" y="3166129"/>
                <a:ext cx="3767579" cy="1105517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chemeClr val="tx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noProof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𝒉</m:t>
                      </m:r>
                      <m:r>
                        <a:rPr lang="en-US" sz="4000" b="1" i="1" noProof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[</m:t>
                      </m:r>
                      <m:r>
                        <a:rPr lang="en-US" sz="4000" b="1" i="1" noProof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𝒏</m:t>
                      </m:r>
                      <m:r>
                        <a:rPr lang="en-US" sz="4000" b="1" i="1" noProof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] = </m:t>
                      </m:r>
                      <m:r>
                        <a:rPr lang="en-US" sz="4000" b="1" i="1" noProof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𝜹</m:t>
                      </m:r>
                      <m:r>
                        <a:rPr lang="en-US" sz="4000" b="1" i="1" noProof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[</m:t>
                      </m:r>
                      <m:r>
                        <a:rPr lang="en-US" sz="4000" b="1" i="1" noProof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𝒏</m:t>
                      </m:r>
                      <m:r>
                        <a:rPr lang="en-US" sz="4000" b="1" i="1" noProof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]</m:t>
                      </m:r>
                    </m:oMath>
                  </m:oMathPara>
                </a14:m>
                <a:endParaRPr lang="en-US" sz="4000" b="1" noProof="0">
                  <a:cs typeface="Arial"/>
                </a:endParaRPr>
              </a:p>
            </p:txBody>
          </p:sp>
        </mc:Choice>
        <mc:Fallback xmlns="">
          <p:sp>
            <p:nvSpPr>
              <p:cNvPr id="8" name="Retângulo: Cantos Arredondados 1">
                <a:extLst>
                  <a:ext uri="{FF2B5EF4-FFF2-40B4-BE49-F238E27FC236}">
                    <a16:creationId xmlns:a16="http://schemas.microsoft.com/office/drawing/2014/main" id="{BB421B7D-5630-78DA-7AAC-7744ABD94B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87" y="3166129"/>
                <a:ext cx="3767579" cy="1105517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tângulo: Cantos Arredondados 1">
                <a:extLst>
                  <a:ext uri="{FF2B5EF4-FFF2-40B4-BE49-F238E27FC236}">
                    <a16:creationId xmlns:a16="http://schemas.microsoft.com/office/drawing/2014/main" id="{9D613F90-89C0-30E9-C7E6-D66EFDCEF49D}"/>
                  </a:ext>
                </a:extLst>
              </p:cNvPr>
              <p:cNvSpPr/>
              <p:nvPr/>
            </p:nvSpPr>
            <p:spPr>
              <a:xfrm>
                <a:off x="150186" y="1527110"/>
                <a:ext cx="3767579" cy="1105517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chemeClr val="tx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noProof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𝒙</m:t>
                      </m:r>
                      <m:r>
                        <a:rPr lang="en-US" sz="4000" b="1" i="1" noProof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[</m:t>
                      </m:r>
                      <m:r>
                        <a:rPr lang="en-US" sz="4000" b="1" i="1" noProof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𝒏</m:t>
                      </m:r>
                      <m:r>
                        <a:rPr lang="en-US" sz="4000" b="1" i="1" noProof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]</m:t>
                      </m:r>
                    </m:oMath>
                  </m:oMathPara>
                </a14:m>
                <a:endParaRPr lang="en-US" b="1" noProof="0"/>
              </a:p>
            </p:txBody>
          </p:sp>
        </mc:Choice>
        <mc:Fallback xmlns="">
          <p:sp>
            <p:nvSpPr>
              <p:cNvPr id="10" name="Retângulo: Cantos Arredondados 1">
                <a:extLst>
                  <a:ext uri="{FF2B5EF4-FFF2-40B4-BE49-F238E27FC236}">
                    <a16:creationId xmlns:a16="http://schemas.microsoft.com/office/drawing/2014/main" id="{9D613F90-89C0-30E9-C7E6-D66EFDCEF4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86" y="1527110"/>
                <a:ext cx="3767579" cy="1105517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8321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2E6B766F-30E6-771C-2CF7-200A39F66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5C5AE40F-8372-2F85-2C69-F6FE17AC02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78901"/>
            <a:ext cx="11736898" cy="74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Graphical example of convolution (rectangular) - example 2/3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78747858-B031-079A-9FB7-FDF6FD8DDCD3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Linear Time-Invariant Systems</a:t>
            </a:r>
            <a:endParaRPr lang="en-US" sz="1600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EC7CF8AB-56E0-908A-141F-71DEDCA37E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8</a:t>
            </a:fld>
            <a:endParaRPr lang="en-US" noProof="0">
              <a:solidFill>
                <a:schemeClr val="lt1"/>
              </a:solidFill>
            </a:endParaRP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98DAC62B-8E15-50A9-07C4-647B44B63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738" y="1080654"/>
            <a:ext cx="8943576" cy="574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611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0ABE5D8B-922C-3733-CEF4-5C4EE19C4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A1FC29BA-80FA-3D69-3DFA-1B5B421735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78901"/>
            <a:ext cx="11736898" cy="74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Graphical example of convolution (edge detector) - example 3/3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4328C235-F549-7379-C2C8-952ADC93A438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Linear Time-Invariant Systems</a:t>
            </a:r>
            <a:endParaRPr lang="en-US" sz="1600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31C61F94-B317-3C2D-0E3C-D9D569C538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9</a:t>
            </a:fld>
            <a:endParaRPr lang="en-US" noProof="0">
              <a:solidFill>
                <a:schemeClr val="lt1"/>
              </a:solidFill>
            </a:endParaRPr>
          </a:p>
        </p:txBody>
      </p:sp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1F839349-9E09-C113-99A5-AE12A4741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184" y="1049547"/>
            <a:ext cx="8891556" cy="563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698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3FABDFC-831B-B0DB-7746-A8EF88608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419EBBE7-5624-2DDD-5DDE-8885BDD996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12190136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800" noProof="0"/>
              <a:t>Convolution in time domain is a multiplication in frequency domain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E8A84347-1BD4-A8FA-B073-646EFD44FE62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Linear Time-Invariant Systems</a:t>
            </a:r>
            <a:endParaRPr lang="en-US" sz="1600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898B3ED4-948F-C64B-5048-36FAC7059B0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10</a:t>
            </a:fld>
            <a:endParaRPr lang="en-US" noProof="0">
              <a:solidFill>
                <a:schemeClr val="lt1"/>
              </a:solidFill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BC7E581-13F2-D659-4A66-380C9A7F3510}"/>
              </a:ext>
            </a:extLst>
          </p:cNvPr>
          <p:cNvSpPr/>
          <p:nvPr/>
        </p:nvSpPr>
        <p:spPr>
          <a:xfrm>
            <a:off x="3015427" y="1448985"/>
            <a:ext cx="4318823" cy="1105517"/>
          </a:xfrm>
          <a:prstGeom prst="roundRect">
            <a:avLst/>
          </a:prstGeom>
          <a:solidFill>
            <a:schemeClr val="tx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For linear operators C, we have </a:t>
            </a:r>
            <a:r>
              <a:rPr lang="en-US" sz="2400" b="1" noProof="0"/>
              <a:t>eigenvectors and eigenvalues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tângulo: Cantos Arredondados 1">
                <a:extLst>
                  <a:ext uri="{FF2B5EF4-FFF2-40B4-BE49-F238E27FC236}">
                    <a16:creationId xmlns:a16="http://schemas.microsoft.com/office/drawing/2014/main" id="{A5D29D6C-3C40-73C6-6188-AB5CC5F75ADC}"/>
                  </a:ext>
                </a:extLst>
              </p:cNvPr>
              <p:cNvSpPr/>
              <p:nvPr/>
            </p:nvSpPr>
            <p:spPr>
              <a:xfrm>
                <a:off x="336106" y="1448985"/>
                <a:ext cx="2468374" cy="1105517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1" i="1" noProof="0" dirty="0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sz="3200" b="1" i="1" noProof="0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sz="3200" b="1" i="1" noProof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 b="0" i="1" noProof="0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pt-BR" sz="3200" b="1" i="1" noProof="0" dirty="0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3200" b="1" noProof="0"/>
              </a:p>
            </p:txBody>
          </p:sp>
        </mc:Choice>
        <mc:Fallback xmlns="">
          <p:sp>
            <p:nvSpPr>
              <p:cNvPr id="7" name="Retângulo: Cantos Arredondados 1">
                <a:extLst>
                  <a:ext uri="{FF2B5EF4-FFF2-40B4-BE49-F238E27FC236}">
                    <a16:creationId xmlns:a16="http://schemas.microsoft.com/office/drawing/2014/main" id="{A5D29D6C-3C40-73C6-6188-AB5CC5F75A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06" y="1448985"/>
                <a:ext cx="2468374" cy="110551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tângulo: Cantos Arredondados 1">
            <a:extLst>
              <a:ext uri="{FF2B5EF4-FFF2-40B4-BE49-F238E27FC236}">
                <a16:creationId xmlns:a16="http://schemas.microsoft.com/office/drawing/2014/main" id="{5B6A1118-6975-99C8-9E6C-D9F538BC0F07}"/>
              </a:ext>
            </a:extLst>
          </p:cNvPr>
          <p:cNvSpPr/>
          <p:nvPr/>
        </p:nvSpPr>
        <p:spPr>
          <a:xfrm>
            <a:off x="7545197" y="1425525"/>
            <a:ext cx="4310697" cy="1128977"/>
          </a:xfrm>
          <a:prstGeom prst="roundRect">
            <a:avLst/>
          </a:prstGeom>
          <a:solidFill>
            <a:schemeClr val="tx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noProof="0"/>
              <a:t>The LTI system is linear, </a:t>
            </a:r>
            <a:r>
              <a:rPr lang="pt-BR" sz="2400" b="1" noProof="0" err="1"/>
              <a:t>and</a:t>
            </a:r>
            <a:r>
              <a:rPr lang="pt-BR" sz="2400" b="1"/>
              <a:t> it </a:t>
            </a:r>
            <a:r>
              <a:rPr lang="pt-BR" sz="2400" b="1" err="1"/>
              <a:t>has</a:t>
            </a:r>
            <a:r>
              <a:rPr lang="pt-BR" sz="2400" b="1"/>
              <a:t> </a:t>
            </a:r>
            <a:r>
              <a:rPr lang="pt-BR" sz="2400" b="1" i="1" err="1"/>
              <a:t>eigenfunctions</a:t>
            </a:r>
            <a:endParaRPr lang="en-US" sz="2400" b="1" i="1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: Cantos Arredondados 1">
                <a:extLst>
                  <a:ext uri="{FF2B5EF4-FFF2-40B4-BE49-F238E27FC236}">
                    <a16:creationId xmlns:a16="http://schemas.microsoft.com/office/drawing/2014/main" id="{D7092FE8-B94D-B815-2E2A-F9D91B8FECFA}"/>
                  </a:ext>
                </a:extLst>
              </p:cNvPr>
              <p:cNvSpPr/>
              <p:nvPr/>
            </p:nvSpPr>
            <p:spPr>
              <a:xfrm>
                <a:off x="346105" y="4120669"/>
                <a:ext cx="3823108" cy="1038648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noProof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𝒙</m:t>
                      </m:r>
                      <m:r>
                        <a:rPr lang="en-US" sz="4000" b="1" i="1" noProof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[</m:t>
                      </m:r>
                      <m:r>
                        <a:rPr lang="en-US" sz="4000" b="1" i="1" noProof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𝒏</m:t>
                      </m:r>
                      <m:r>
                        <a:rPr lang="en-US" sz="4000" b="1" i="1" noProof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]=</m:t>
                      </m:r>
                      <m:sSup>
                        <m:sSupPr>
                          <m:ctrlPr>
                            <a:rPr lang="pt-BR" sz="40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pPr>
                        <m:e>
                          <m:r>
                            <a:rPr lang="pt-BR" sz="40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𝒆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pt-BR" sz="40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j</m:t>
                          </m:r>
                          <m:r>
                            <a:rPr lang="pt-BR" sz="40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𝜸</m:t>
                          </m:r>
                          <m:r>
                            <m:rPr>
                              <m:sty m:val="p"/>
                            </m:rPr>
                            <a:rPr lang="pt-BR" sz="40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n</m:t>
                          </m:r>
                        </m:sup>
                      </m:sSup>
                    </m:oMath>
                  </m:oMathPara>
                </a14:m>
                <a:endParaRPr lang="en-US" b="1" noProof="0"/>
              </a:p>
            </p:txBody>
          </p:sp>
        </mc:Choice>
        <mc:Fallback xmlns="">
          <p:sp>
            <p:nvSpPr>
              <p:cNvPr id="4" name="Retângulo: Cantos Arredondados 1">
                <a:extLst>
                  <a:ext uri="{FF2B5EF4-FFF2-40B4-BE49-F238E27FC236}">
                    <a16:creationId xmlns:a16="http://schemas.microsoft.com/office/drawing/2014/main" id="{D7092FE8-B94D-B815-2E2A-F9D91B8FEC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105" y="4120669"/>
                <a:ext cx="3823108" cy="1038648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tângulo: Cantos Arredondados 1">
                <a:extLst>
                  <a:ext uri="{FF2B5EF4-FFF2-40B4-BE49-F238E27FC236}">
                    <a16:creationId xmlns:a16="http://schemas.microsoft.com/office/drawing/2014/main" id="{46466D83-37C8-E827-492D-DB42847418D9}"/>
                  </a:ext>
                </a:extLst>
              </p:cNvPr>
              <p:cNvSpPr/>
              <p:nvPr/>
            </p:nvSpPr>
            <p:spPr>
              <a:xfrm>
                <a:off x="7186294" y="4120669"/>
                <a:ext cx="4656077" cy="1038649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1" i="1" noProof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𝒚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32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𝒏</m:t>
                          </m:r>
                        </m:e>
                      </m:d>
                      <m:r>
                        <a:rPr lang="pt-BR" sz="3200" b="1" i="1" noProof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=</m:t>
                      </m:r>
                      <m:r>
                        <a:rPr lang="pt-BR" sz="3200" b="1" i="1" noProof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𝜼</m:t>
                      </m:r>
                      <m:sSup>
                        <m:sSupPr>
                          <m:ctrlPr>
                            <a:rPr lang="pt-BR" sz="32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pPr>
                        <m:e>
                          <m:r>
                            <a:rPr lang="pt-BR" sz="32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𝒆</m:t>
                          </m:r>
                        </m:e>
                        <m:sup>
                          <m:r>
                            <a:rPr lang="pt-BR" sz="32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𝒋</m:t>
                          </m:r>
                          <m:r>
                            <a:rPr lang="pt-BR" sz="32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𝜸</m:t>
                          </m:r>
                          <m:r>
                            <a:rPr lang="pt-BR" sz="3200" b="1" i="0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𝐧</m:t>
                          </m:r>
                        </m:sup>
                      </m:sSup>
                    </m:oMath>
                  </m:oMathPara>
                </a14:m>
                <a:endParaRPr lang="en-US" sz="3200" b="1">
                  <a:ea typeface="Calibri"/>
                  <a:cs typeface="Calibri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1" i="1" noProof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pt-BR" sz="32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dPr>
                        <m:e>
                          <m:r>
                            <a:rPr lang="pt-BR" sz="32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𝜼</m:t>
                          </m:r>
                        </m:e>
                      </m:d>
                      <m:sSup>
                        <m:sSupPr>
                          <m:ctrlPr>
                            <a:rPr lang="pt-BR" sz="32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pPr>
                        <m:e>
                          <m:r>
                            <a:rPr lang="pt-BR" sz="32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𝒆</m:t>
                          </m:r>
                        </m:e>
                        <m:sup>
                          <m:r>
                            <a:rPr lang="pt-BR" sz="32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𝒋</m:t>
                          </m:r>
                          <m:r>
                            <a:rPr lang="pt-BR" sz="32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𝜸</m:t>
                          </m:r>
                          <m:r>
                            <a:rPr lang="pt-BR" sz="32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𝒏</m:t>
                          </m:r>
                          <m:r>
                            <a:rPr lang="pt-BR" sz="32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+∠</m:t>
                          </m:r>
                          <m:r>
                            <a:rPr lang="pt-BR" sz="32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𝜼</m:t>
                          </m:r>
                        </m:sup>
                      </m:sSup>
                    </m:oMath>
                  </m:oMathPara>
                </a14:m>
                <a:endParaRPr lang="pt-BR" sz="3200" b="1" noProof="0"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1" name="Retângulo: Cantos Arredondados 1">
                <a:extLst>
                  <a:ext uri="{FF2B5EF4-FFF2-40B4-BE49-F238E27FC236}">
                    <a16:creationId xmlns:a16="http://schemas.microsoft.com/office/drawing/2014/main" id="{46466D83-37C8-E827-492D-DB42847418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294" y="4120669"/>
                <a:ext cx="4656077" cy="103864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tângulo: Cantos Arredondados 12">
                <a:extLst>
                  <a:ext uri="{FF2B5EF4-FFF2-40B4-BE49-F238E27FC236}">
                    <a16:creationId xmlns:a16="http://schemas.microsoft.com/office/drawing/2014/main" id="{2EFC8CCE-9B4A-2F17-B38E-558A77D81FE8}"/>
                  </a:ext>
                </a:extLst>
              </p:cNvPr>
              <p:cNvSpPr/>
              <p:nvPr/>
            </p:nvSpPr>
            <p:spPr>
              <a:xfrm>
                <a:off x="4921116" y="4120669"/>
                <a:ext cx="1536796" cy="103864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𝓗</m:t>
                      </m:r>
                    </m:oMath>
                  </m:oMathPara>
                </a14:m>
                <a:endParaRPr lang="pt-BR" sz="3200" b="1"/>
              </a:p>
            </p:txBody>
          </p:sp>
        </mc:Choice>
        <mc:Fallback xmlns="">
          <p:sp>
            <p:nvSpPr>
              <p:cNvPr id="13" name="Retângulo: Cantos Arredondados 12">
                <a:extLst>
                  <a:ext uri="{FF2B5EF4-FFF2-40B4-BE49-F238E27FC236}">
                    <a16:creationId xmlns:a16="http://schemas.microsoft.com/office/drawing/2014/main" id="{2EFC8CCE-9B4A-2F17-B38E-558A77D81F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1116" y="4120669"/>
                <a:ext cx="1536796" cy="1038648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FC3E746C-770D-A43A-2FAF-A499F89D0AAE}"/>
              </a:ext>
            </a:extLst>
          </p:cNvPr>
          <p:cNvCxnSpPr>
            <a:stCxn id="4" idx="3"/>
            <a:endCxn id="13" idx="1"/>
          </p:cNvCxnSpPr>
          <p:nvPr/>
        </p:nvCxnSpPr>
        <p:spPr>
          <a:xfrm>
            <a:off x="4169213" y="4639993"/>
            <a:ext cx="751903" cy="0"/>
          </a:xfrm>
          <a:prstGeom prst="straightConnector1">
            <a:avLst/>
          </a:prstGeom>
          <a:ln w="57150">
            <a:solidFill>
              <a:schemeClr val="tx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56FBAAFE-4F39-9802-D95E-0DFCED81D6D5}"/>
              </a:ext>
            </a:extLst>
          </p:cNvPr>
          <p:cNvCxnSpPr>
            <a:cxnSpLocks/>
            <a:stCxn id="13" idx="3"/>
            <a:endCxn id="11" idx="1"/>
          </p:cNvCxnSpPr>
          <p:nvPr/>
        </p:nvCxnSpPr>
        <p:spPr>
          <a:xfrm>
            <a:off x="6457912" y="4639993"/>
            <a:ext cx="728382" cy="1"/>
          </a:xfrm>
          <a:prstGeom prst="straightConnector1">
            <a:avLst/>
          </a:prstGeom>
          <a:ln w="57150">
            <a:solidFill>
              <a:schemeClr val="tx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tângulo: Cantos Arredondados 1">
                <a:extLst>
                  <a:ext uri="{FF2B5EF4-FFF2-40B4-BE49-F238E27FC236}">
                    <a16:creationId xmlns:a16="http://schemas.microsoft.com/office/drawing/2014/main" id="{29C685D0-F233-E38C-9540-0768795E94E3}"/>
                  </a:ext>
                </a:extLst>
              </p:cNvPr>
              <p:cNvSpPr/>
              <p:nvPr/>
            </p:nvSpPr>
            <p:spPr>
              <a:xfrm>
                <a:off x="346105" y="2981325"/>
                <a:ext cx="3823108" cy="1038648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600" b="1" i="1" noProof="0" smtClean="0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pt-BR" sz="3600" b="1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3600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600" b="1" i="1" noProof="0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pt-BR" sz="3600" b="1" i="1" noProof="0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pt-BR" sz="3600" b="1" i="0" noProof="0" smtClean="0">
                                  <a:latin typeface="Cambria Math" panose="02040503050406030204" pitchFamily="18" charset="0"/>
                                </a:rPr>
                                <m:t>𝛀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3600" b="1" noProof="0"/>
              </a:p>
            </p:txBody>
          </p:sp>
        </mc:Choice>
        <mc:Fallback xmlns="">
          <p:sp>
            <p:nvSpPr>
              <p:cNvPr id="23" name="Retângulo: Cantos Arredondados 1">
                <a:extLst>
                  <a:ext uri="{FF2B5EF4-FFF2-40B4-BE49-F238E27FC236}">
                    <a16:creationId xmlns:a16="http://schemas.microsoft.com/office/drawing/2014/main" id="{29C685D0-F233-E38C-9540-0768795E94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105" y="2981325"/>
                <a:ext cx="3823108" cy="1038648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tângulo: Cantos Arredondados 1">
                <a:extLst>
                  <a:ext uri="{FF2B5EF4-FFF2-40B4-BE49-F238E27FC236}">
                    <a16:creationId xmlns:a16="http://schemas.microsoft.com/office/drawing/2014/main" id="{714CD26F-516E-A193-991E-91FB816002AC}"/>
                  </a:ext>
                </a:extLst>
              </p:cNvPr>
              <p:cNvSpPr/>
              <p:nvPr/>
            </p:nvSpPr>
            <p:spPr>
              <a:xfrm>
                <a:off x="7186294" y="2981325"/>
                <a:ext cx="4656077" cy="1038649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𝒀</m:t>
                      </m:r>
                      <m:d>
                        <m:dPr>
                          <m:ctrlPr>
                            <a:rPr lang="pt-BR" sz="3200" b="1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32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b="1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pt-BR" sz="3200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pt-BR" sz="3200" b="1">
                                  <a:latin typeface="Cambria Math" panose="02040503050406030204" pitchFamily="18" charset="0"/>
                                </a:rPr>
                                <m:t>𝛀</m:t>
                              </m:r>
                            </m:sup>
                          </m:sSup>
                        </m:e>
                      </m:d>
                      <m:r>
                        <a:rPr lang="pt-BR" sz="3200" b="1" i="1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=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𝑯</m:t>
                      </m:r>
                      <m:r>
                        <a:rPr lang="pt-BR" sz="3200" b="1" i="1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(</m:t>
                      </m:r>
                      <m:sSup>
                        <m:sSupPr>
                          <m:ctrlPr>
                            <a:rPr lang="pt-BR" sz="3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200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pt-BR" sz="3200" b="1" i="1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pt-BR" sz="3200" b="1">
                              <a:latin typeface="Cambria Math" panose="02040503050406030204" pitchFamily="18" charset="0"/>
                            </a:rPr>
                            <m:t>𝛀</m:t>
                          </m:r>
                        </m:sup>
                      </m:sSup>
                      <m:r>
                        <a:rPr lang="pt-BR" sz="3200" b="1" i="1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)</m:t>
                      </m:r>
                      <m:r>
                        <a:rPr lang="pt-BR" sz="3200" b="1" i="1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𝑿</m:t>
                      </m:r>
                      <m:d>
                        <m:dPr>
                          <m:ctrlPr>
                            <a:rPr lang="pt-BR" sz="3200" b="1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32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b="1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pt-BR" sz="3200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pt-BR" sz="3200" b="1">
                                  <a:latin typeface="Cambria Math" panose="02040503050406030204" pitchFamily="18" charset="0"/>
                                </a:rPr>
                                <m:t>𝛀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t-BR" sz="3200" b="1" noProof="0"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4" name="Retângulo: Cantos Arredondados 1">
                <a:extLst>
                  <a:ext uri="{FF2B5EF4-FFF2-40B4-BE49-F238E27FC236}">
                    <a16:creationId xmlns:a16="http://schemas.microsoft.com/office/drawing/2014/main" id="{714CD26F-516E-A193-991E-91FB816002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294" y="2981325"/>
                <a:ext cx="4656077" cy="1038649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tângulo: Cantos Arredondados 24">
                <a:extLst>
                  <a:ext uri="{FF2B5EF4-FFF2-40B4-BE49-F238E27FC236}">
                    <a16:creationId xmlns:a16="http://schemas.microsoft.com/office/drawing/2014/main" id="{9E10A811-B88E-4F49-18D0-0619289A5F8B}"/>
                  </a:ext>
                </a:extLst>
              </p:cNvPr>
              <p:cNvSpPr/>
              <p:nvPr/>
            </p:nvSpPr>
            <p:spPr>
              <a:xfrm>
                <a:off x="4921117" y="2981325"/>
                <a:ext cx="1536796" cy="103864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𝓗</m:t>
                      </m:r>
                    </m:oMath>
                  </m:oMathPara>
                </a14:m>
                <a:endParaRPr lang="pt-BR" sz="3200" b="1"/>
              </a:p>
            </p:txBody>
          </p:sp>
        </mc:Choice>
        <mc:Fallback xmlns="">
          <p:sp>
            <p:nvSpPr>
              <p:cNvPr id="25" name="Retângulo: Cantos Arredondados 24">
                <a:extLst>
                  <a:ext uri="{FF2B5EF4-FFF2-40B4-BE49-F238E27FC236}">
                    <a16:creationId xmlns:a16="http://schemas.microsoft.com/office/drawing/2014/main" id="{9E10A811-B88E-4F49-18D0-0619289A5F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1117" y="2981325"/>
                <a:ext cx="1536796" cy="1038648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8B451287-1B48-720D-B864-19AF90F66B4C}"/>
              </a:ext>
            </a:extLst>
          </p:cNvPr>
          <p:cNvCxnSpPr>
            <a:stCxn id="23" idx="3"/>
            <a:endCxn id="25" idx="1"/>
          </p:cNvCxnSpPr>
          <p:nvPr/>
        </p:nvCxnSpPr>
        <p:spPr>
          <a:xfrm>
            <a:off x="4169213" y="3500649"/>
            <a:ext cx="751904" cy="0"/>
          </a:xfrm>
          <a:prstGeom prst="straightConnector1">
            <a:avLst/>
          </a:prstGeom>
          <a:ln w="57150">
            <a:solidFill>
              <a:schemeClr val="tx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4A53C45B-3E7D-CE61-CC87-6134057833FA}"/>
              </a:ext>
            </a:extLst>
          </p:cNvPr>
          <p:cNvCxnSpPr>
            <a:stCxn id="25" idx="3"/>
            <a:endCxn id="24" idx="1"/>
          </p:cNvCxnSpPr>
          <p:nvPr/>
        </p:nvCxnSpPr>
        <p:spPr>
          <a:xfrm>
            <a:off x="6457913" y="3500649"/>
            <a:ext cx="728381" cy="1"/>
          </a:xfrm>
          <a:prstGeom prst="straightConnector1">
            <a:avLst/>
          </a:prstGeom>
          <a:ln w="57150">
            <a:solidFill>
              <a:schemeClr val="tx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tângulo: Cantos Arredondados 1">
            <a:extLst>
              <a:ext uri="{FF2B5EF4-FFF2-40B4-BE49-F238E27FC236}">
                <a16:creationId xmlns:a16="http://schemas.microsoft.com/office/drawing/2014/main" id="{3B92C300-C82D-A02C-FCC7-B8879EF4F594}"/>
              </a:ext>
            </a:extLst>
          </p:cNvPr>
          <p:cNvSpPr/>
          <p:nvPr/>
        </p:nvSpPr>
        <p:spPr>
          <a:xfrm>
            <a:off x="346105" y="5452983"/>
            <a:ext cx="2778095" cy="1038647"/>
          </a:xfrm>
          <a:prstGeom prst="roundRect">
            <a:avLst/>
          </a:prstGeom>
          <a:solidFill>
            <a:schemeClr val="tx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noProof="0"/>
              <a:t>In general: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tângulo: Cantos Arredondados 1">
                <a:extLst>
                  <a:ext uri="{FF2B5EF4-FFF2-40B4-BE49-F238E27FC236}">
                    <a16:creationId xmlns:a16="http://schemas.microsoft.com/office/drawing/2014/main" id="{122A28E6-D2C1-88B7-C91A-21A4BFA8AAC6}"/>
                  </a:ext>
                </a:extLst>
              </p:cNvPr>
              <p:cNvSpPr/>
              <p:nvPr/>
            </p:nvSpPr>
            <p:spPr>
              <a:xfrm>
                <a:off x="3501617" y="5452984"/>
                <a:ext cx="8340754" cy="1038648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40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40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𝒙</m:t>
                          </m:r>
                        </m:e>
                        <m:sub>
                          <m:r>
                            <a:rPr lang="pt-BR" sz="40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𝟏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40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40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𝒏</m:t>
                          </m:r>
                        </m:e>
                      </m:d>
                      <m:r>
                        <a:rPr lang="pt-BR" sz="4000" b="1" i="1" noProof="0" smtClean="0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∗</m:t>
                      </m:r>
                      <m:sSub>
                        <m:sSubPr>
                          <m:ctrlPr>
                            <a:rPr lang="pt-BR" sz="40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a:rPr lang="pt-BR" sz="40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𝒙</m:t>
                          </m:r>
                        </m:e>
                        <m:sub>
                          <m:r>
                            <a:rPr lang="pt-BR" sz="40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𝟐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pt-BR" sz="40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dPr>
                        <m:e>
                          <m:r>
                            <a:rPr lang="pt-BR" sz="40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𝒏</m:t>
                          </m:r>
                        </m:e>
                      </m:d>
                      <m:r>
                        <a:rPr lang="pt-BR" sz="4000" b="1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⇔</m:t>
                      </m:r>
                      <m:sSub>
                        <m:sSubPr>
                          <m:ctrlPr>
                            <a:rPr lang="pt-BR" sz="4000" b="1" i="1" noProof="0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a:rPr lang="pt-BR" sz="4000" b="1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𝑿</m:t>
                          </m:r>
                        </m:e>
                        <m:sub>
                          <m:r>
                            <a:rPr lang="pt-BR" sz="4000" b="1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pt-BR" sz="4000" b="1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dPr>
                        <m:e>
                          <m:r>
                            <a:rPr lang="pt-BR" sz="40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d>
                      <m:sSub>
                        <m:sSubPr>
                          <m:ctrlPr>
                            <a:rPr lang="pt-BR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4000" b="1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𝑿</m:t>
                          </m:r>
                        </m:e>
                        <m:sub>
                          <m:r>
                            <a:rPr lang="pt-BR" sz="4000" b="1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pt-BR" sz="4000" b="1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dPr>
                        <m:e>
                          <m:r>
                            <a:rPr lang="pt-BR" sz="4000" b="1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𝒛</m:t>
                          </m:r>
                        </m:e>
                      </m:d>
                    </m:oMath>
                  </m:oMathPara>
                </a14:m>
                <a:endParaRPr lang="en-US" b="1" noProof="0"/>
              </a:p>
            </p:txBody>
          </p:sp>
        </mc:Choice>
        <mc:Fallback xmlns="">
          <p:sp>
            <p:nvSpPr>
              <p:cNvPr id="40" name="Retângulo: Cantos Arredondados 1">
                <a:extLst>
                  <a:ext uri="{FF2B5EF4-FFF2-40B4-BE49-F238E27FC236}">
                    <a16:creationId xmlns:a16="http://schemas.microsoft.com/office/drawing/2014/main" id="{122A28E6-D2C1-88B7-C91A-21A4BFA8AA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1617" y="5452984"/>
                <a:ext cx="8340754" cy="1038648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4225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B003EB6E-7D3F-3E4C-91F5-A0B22D076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0165E5DF-9768-110E-E085-D4CD2298A0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12190136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800" noProof="0"/>
              <a:t>Convolution in time domain is a multiplication in frequency domain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68650503-B4CF-E77B-24D5-4C44BEC1EB6C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Linear Time-Invariant Systems</a:t>
            </a:r>
            <a:endParaRPr lang="en-US" sz="1600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F140DC65-11BA-B58A-6AB2-50C9D5CE4A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11</a:t>
            </a:fld>
            <a:endParaRPr lang="en-US" noProof="0">
              <a:solidFill>
                <a:schemeClr val="lt1"/>
              </a:solidFill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4A07DE6-6ACC-A5C1-8EB4-4CAE9BA04D56}"/>
              </a:ext>
            </a:extLst>
          </p:cNvPr>
          <p:cNvSpPr/>
          <p:nvPr/>
        </p:nvSpPr>
        <p:spPr>
          <a:xfrm>
            <a:off x="395925" y="1418666"/>
            <a:ext cx="11272561" cy="487289"/>
          </a:xfrm>
          <a:prstGeom prst="roundRect">
            <a:avLst/>
          </a:prstGeom>
          <a:solidFill>
            <a:schemeClr val="tx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noProof="0">
                <a:latin typeface="Calibri"/>
                <a:ea typeface="Calibri"/>
                <a:cs typeface="Calibri"/>
              </a:rPr>
              <a:t>Continuous-time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30248061-ACC8-6705-C09D-7C512CAD0D40}"/>
              </a:ext>
            </a:extLst>
          </p:cNvPr>
          <p:cNvSpPr/>
          <p:nvPr/>
        </p:nvSpPr>
        <p:spPr>
          <a:xfrm>
            <a:off x="373189" y="3273346"/>
            <a:ext cx="11344447" cy="516044"/>
          </a:xfrm>
          <a:prstGeom prst="roundRect">
            <a:avLst/>
          </a:prstGeom>
          <a:solidFill>
            <a:schemeClr val="tx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noProof="0">
                <a:latin typeface="Calibri"/>
                <a:ea typeface="Calibri"/>
                <a:cs typeface="Calibri"/>
              </a:rPr>
              <a:t>Discrete-time</a:t>
            </a:r>
          </a:p>
        </p:txBody>
      </p:sp>
      <p:pic>
        <p:nvPicPr>
          <p:cNvPr id="4" name="Picture 3" descr="A black symbol with a white background&#10;&#10;AI-generated content may be incorrect.">
            <a:extLst>
              <a:ext uri="{FF2B5EF4-FFF2-40B4-BE49-F238E27FC236}">
                <a16:creationId xmlns:a16="http://schemas.microsoft.com/office/drawing/2014/main" id="{7D2A79DB-9327-DC68-1C84-A16C75985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453" y="2018671"/>
            <a:ext cx="11268075" cy="1095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769881-9A64-DFD1-5FE5-A3F382F80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811" y="3921694"/>
            <a:ext cx="9467850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809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10F0A0B0-D798-0025-24FA-EE7F86EE0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1217645F-70D5-ECCA-081D-FD5289D2BB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12190136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(Circular) Convolution using DTFTs and inverse DTFT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36D94633-F46F-2E20-3FED-26C2D3648E54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Linear Time-Invariant Systems</a:t>
            </a:r>
            <a:endParaRPr lang="en-US" sz="1600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7652710A-16ED-BCEE-ADC6-82743426E4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12</a:t>
            </a:fld>
            <a:endParaRPr lang="en-US" noProof="0">
              <a:solidFill>
                <a:schemeClr val="l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59B39D-70F8-E188-D883-7B6C5E249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83" y="5028751"/>
            <a:ext cx="7909683" cy="1027442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pic>
        <p:nvPicPr>
          <p:cNvPr id="6" name="Picture 5" descr="A close up of a symbol&#10;&#10;AI-generated content may be incorrect.">
            <a:extLst>
              <a:ext uri="{FF2B5EF4-FFF2-40B4-BE49-F238E27FC236}">
                <a16:creationId xmlns:a16="http://schemas.microsoft.com/office/drawing/2014/main" id="{5A56E91F-796D-D156-4050-8BC812C8A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3027" y="5204334"/>
            <a:ext cx="3609081" cy="575634"/>
          </a:xfrm>
          <a:prstGeom prst="rect">
            <a:avLst/>
          </a:prstGeom>
        </p:spPr>
      </p:pic>
      <p:pic>
        <p:nvPicPr>
          <p:cNvPr id="8" name="Picture 7" descr="A black and white symbol&#10;&#10;AI-generated content may be incorrect.">
            <a:extLst>
              <a:ext uri="{FF2B5EF4-FFF2-40B4-BE49-F238E27FC236}">
                <a16:creationId xmlns:a16="http://schemas.microsoft.com/office/drawing/2014/main" id="{8C4ECF36-CF90-087F-EB32-F8C2BFE5C2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3351" y="3102006"/>
            <a:ext cx="8505825" cy="1171575"/>
          </a:xfrm>
          <a:prstGeom prst="rect">
            <a:avLst/>
          </a:prstGeom>
          <a:ln>
            <a:solidFill>
              <a:schemeClr val="tx2">
                <a:lumMod val="10000"/>
              </a:schemeClr>
            </a:solidFill>
          </a:ln>
        </p:spPr>
      </p:pic>
      <p:pic>
        <p:nvPicPr>
          <p:cNvPr id="11" name="Picture 10" descr="A number and symbol on a white background&#10;&#10;AI-generated content may be incorrect.">
            <a:extLst>
              <a:ext uri="{FF2B5EF4-FFF2-40B4-BE49-F238E27FC236}">
                <a16:creationId xmlns:a16="http://schemas.microsoft.com/office/drawing/2014/main" id="{A1C570DB-8E8E-2428-5B2A-CC57959D6C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1229" y="1227467"/>
            <a:ext cx="9520110" cy="1182537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16AB1B-06A3-9083-0028-362D47DDB3B3}"/>
              </a:ext>
            </a:extLst>
          </p:cNvPr>
          <p:cNvSpPr txBox="1"/>
          <p:nvPr/>
        </p:nvSpPr>
        <p:spPr>
          <a:xfrm>
            <a:off x="81172" y="2942865"/>
            <a:ext cx="3375803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This property allows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 us to write the above formula as the one below:</a:t>
            </a:r>
          </a:p>
        </p:txBody>
      </p:sp>
    </p:spTree>
    <p:extLst>
      <p:ext uri="{BB962C8B-B14F-4D97-AF65-F5344CB8AC3E}">
        <p14:creationId xmlns:p14="http://schemas.microsoft.com/office/powerpoint/2010/main" val="468683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19BB9A5-833B-7D9E-6C54-E910F541F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1B5E9768-F179-15B0-F7EC-9354E5A467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12190136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3200" noProof="0"/>
              <a:t>Circular and fast convolution using FFT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32ECBB28-AE54-3DDD-B05D-809A655F24F4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Linear Time-Invariant Systems</a:t>
            </a:r>
            <a:endParaRPr lang="en-US" sz="1600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3D824C61-9FB4-9362-598A-5676A2221B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13</a:t>
            </a:fld>
            <a:endParaRPr lang="en-US" noProof="0">
              <a:solidFill>
                <a:schemeClr val="lt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44B5D3-28F6-D22F-EED1-A5F977F68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37" y="1716069"/>
            <a:ext cx="11709602" cy="8810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D0681CD6-4195-EF1C-A706-730CA33FF935}"/>
                  </a:ext>
                </a:extLst>
              </p:cNvPr>
              <p:cNvSpPr/>
              <p:nvPr/>
            </p:nvSpPr>
            <p:spPr>
              <a:xfrm>
                <a:off x="230037" y="2763149"/>
                <a:ext cx="9273762" cy="745046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2400" b="1">
                    <a:latin typeface="Calibri"/>
                    <a:ea typeface="Calibri"/>
                    <a:cs typeface="Calibri"/>
                  </a:rPr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𝒙</m:t>
                        </m:r>
                      </m:e>
                      <m:sub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𝟏</m:t>
                        </m:r>
                      </m:sub>
                    </m:sSub>
                    <m:r>
                      <a:rPr lang="en-US" sz="2400" b="1" i="1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[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𝒏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]</m:t>
                    </m:r>
                  </m:oMath>
                </a14:m>
                <a:r>
                  <a:rPr lang="en-US" sz="2400" b="1">
                    <a:latin typeface="Calibri"/>
                    <a:ea typeface="Calibri"/>
                    <a:cs typeface="Calibri"/>
                  </a:rPr>
                  <a:t> has support 4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𝒙</m:t>
                        </m:r>
                      </m:e>
                      <m:sub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𝟐</m:t>
                        </m:r>
                      </m:sub>
                    </m:sSub>
                    <m:r>
                      <a:rPr lang="en-US" sz="2400" b="1" i="1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[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𝒏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]</m:t>
                    </m:r>
                  </m:oMath>
                </a14:m>
                <a:r>
                  <a:rPr lang="en-US" sz="2400" b="1">
                    <a:latin typeface="Calibri"/>
                    <a:ea typeface="Calibri"/>
                    <a:cs typeface="Calibri"/>
                  </a:rPr>
                  <a:t> has support 3</a:t>
                </a:r>
              </a:p>
            </p:txBody>
          </p:sp>
        </mc:Choice>
        <mc:Fallback xmlns=""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D0681CD6-4195-EF1C-A706-730CA33FF9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37" y="2763149"/>
                <a:ext cx="9273762" cy="74504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D3DF92C-347B-4ED9-3600-61280A83791F}"/>
              </a:ext>
            </a:extLst>
          </p:cNvPr>
          <p:cNvSpPr/>
          <p:nvPr/>
        </p:nvSpPr>
        <p:spPr>
          <a:xfrm>
            <a:off x="230036" y="3727370"/>
            <a:ext cx="4688473" cy="745046"/>
          </a:xfrm>
          <a:prstGeom prst="roundRect">
            <a:avLst/>
          </a:prstGeom>
          <a:solidFill>
            <a:schemeClr val="tx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latin typeface="Calibri"/>
                <a:ea typeface="Calibri"/>
                <a:cs typeface="Calibri"/>
              </a:rPr>
              <a:t>FFT size = 4, pad with zeroes for x2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983423B1-46A4-3C70-6717-A30AECE25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741485"/>
              </p:ext>
            </p:extLst>
          </p:nvPr>
        </p:nvGraphicFramePr>
        <p:xfrm>
          <a:off x="2392212" y="4691591"/>
          <a:ext cx="303704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260">
                  <a:extLst>
                    <a:ext uri="{9D8B030D-6E8A-4147-A177-3AD203B41FA5}">
                      <a16:colId xmlns:a16="http://schemas.microsoft.com/office/drawing/2014/main" val="3824037456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1901449860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3121347910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3573430749"/>
                    </a:ext>
                  </a:extLst>
                </a:gridCol>
              </a:tblGrid>
              <a:tr h="404050"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534631"/>
                  </a:ext>
                </a:extLst>
              </a:tr>
            </a:tbl>
          </a:graphicData>
        </a:graphic>
      </p:graphicFrame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8BA3EDBA-E1E2-BF0A-D6F3-B7C03534B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844398"/>
              </p:ext>
            </p:extLst>
          </p:nvPr>
        </p:nvGraphicFramePr>
        <p:xfrm>
          <a:off x="6762748" y="4691591"/>
          <a:ext cx="303704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260">
                  <a:extLst>
                    <a:ext uri="{9D8B030D-6E8A-4147-A177-3AD203B41FA5}">
                      <a16:colId xmlns:a16="http://schemas.microsoft.com/office/drawing/2014/main" val="3824037456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1901449860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3121347910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3573430749"/>
                    </a:ext>
                  </a:extLst>
                </a:gridCol>
              </a:tblGrid>
              <a:tr h="404050"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34631"/>
                  </a:ext>
                </a:extLst>
              </a:tr>
            </a:tbl>
          </a:graphicData>
        </a:graphic>
      </p:graphicFrame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0AD7DDB7-4B7B-4040-40B1-0A21B40A3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147097"/>
              </p:ext>
            </p:extLst>
          </p:nvPr>
        </p:nvGraphicFramePr>
        <p:xfrm>
          <a:off x="2409825" y="5948425"/>
          <a:ext cx="303704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260">
                  <a:extLst>
                    <a:ext uri="{9D8B030D-6E8A-4147-A177-3AD203B41FA5}">
                      <a16:colId xmlns:a16="http://schemas.microsoft.com/office/drawing/2014/main" val="3824037456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1901449860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3121347910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3573430749"/>
                    </a:ext>
                  </a:extLst>
                </a:gridCol>
              </a:tblGrid>
              <a:tr h="404050"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-2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-2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2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2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34631"/>
                  </a:ext>
                </a:extLst>
              </a:tr>
            </a:tbl>
          </a:graphicData>
        </a:graphic>
      </p:graphicFrame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F2F3119E-3DD5-9F5B-F6F6-0B01B2DAC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386377"/>
              </p:ext>
            </p:extLst>
          </p:nvPr>
        </p:nvGraphicFramePr>
        <p:xfrm>
          <a:off x="125260" y="5306074"/>
          <a:ext cx="303704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260">
                  <a:extLst>
                    <a:ext uri="{9D8B030D-6E8A-4147-A177-3AD203B41FA5}">
                      <a16:colId xmlns:a16="http://schemas.microsoft.com/office/drawing/2014/main" val="3824037456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1901449860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3121347910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3573430749"/>
                    </a:ext>
                  </a:extLst>
                </a:gridCol>
              </a:tblGrid>
              <a:tr h="404050"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-1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34631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28D2E6D5-E174-A26C-C849-EA9FB5EC9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794374"/>
              </p:ext>
            </p:extLst>
          </p:nvPr>
        </p:nvGraphicFramePr>
        <p:xfrm>
          <a:off x="3162300" y="5296449"/>
          <a:ext cx="303704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260">
                  <a:extLst>
                    <a:ext uri="{9D8B030D-6E8A-4147-A177-3AD203B41FA5}">
                      <a16:colId xmlns:a16="http://schemas.microsoft.com/office/drawing/2014/main" val="3824037456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1901449860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3121347910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3573430749"/>
                    </a:ext>
                  </a:extLst>
                </a:gridCol>
              </a:tblGrid>
              <a:tr h="404050"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-1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34631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EB3DF9A5-858F-9C59-7CEC-1EDE9E9CB2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549746"/>
              </p:ext>
            </p:extLst>
          </p:nvPr>
        </p:nvGraphicFramePr>
        <p:xfrm>
          <a:off x="891305" y="5305139"/>
          <a:ext cx="303704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260">
                  <a:extLst>
                    <a:ext uri="{9D8B030D-6E8A-4147-A177-3AD203B41FA5}">
                      <a16:colId xmlns:a16="http://schemas.microsoft.com/office/drawing/2014/main" val="3824037456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1901449860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3121347910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3573430749"/>
                    </a:ext>
                  </a:extLst>
                </a:gridCol>
              </a:tblGrid>
              <a:tr h="404050"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-1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34631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81BA4D2E-E1FE-43E7-D390-370D0191B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525087"/>
              </p:ext>
            </p:extLst>
          </p:nvPr>
        </p:nvGraphicFramePr>
        <p:xfrm>
          <a:off x="3928345" y="5305139"/>
          <a:ext cx="303704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260">
                  <a:extLst>
                    <a:ext uri="{9D8B030D-6E8A-4147-A177-3AD203B41FA5}">
                      <a16:colId xmlns:a16="http://schemas.microsoft.com/office/drawing/2014/main" val="3824037456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1901449860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3121347910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3573430749"/>
                    </a:ext>
                  </a:extLst>
                </a:gridCol>
              </a:tblGrid>
              <a:tr h="404050"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-1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34631"/>
                  </a:ext>
                </a:extLst>
              </a:tr>
            </a:tbl>
          </a:graphicData>
        </a:graphic>
      </p:graphicFrame>
      <p:sp>
        <p:nvSpPr>
          <p:cNvPr id="23" name="Retângulo 22">
            <a:extLst>
              <a:ext uri="{FF2B5EF4-FFF2-40B4-BE49-F238E27FC236}">
                <a16:creationId xmlns:a16="http://schemas.microsoft.com/office/drawing/2014/main" id="{46F4465D-6041-B5AD-7FCB-80CB3E5510C1}"/>
              </a:ext>
            </a:extLst>
          </p:cNvPr>
          <p:cNvSpPr/>
          <p:nvPr/>
        </p:nvSpPr>
        <p:spPr>
          <a:xfrm>
            <a:off x="2331061" y="5958050"/>
            <a:ext cx="3241965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1A485616-0041-6AA4-82BE-E9E5F12424BF}"/>
              </a:ext>
            </a:extLst>
          </p:cNvPr>
          <p:cNvSpPr/>
          <p:nvPr/>
        </p:nvSpPr>
        <p:spPr>
          <a:xfrm>
            <a:off x="3166857" y="5947490"/>
            <a:ext cx="3241965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8D15F6C-D97E-9D85-1935-2122A63239FD}"/>
              </a:ext>
            </a:extLst>
          </p:cNvPr>
          <p:cNvSpPr/>
          <p:nvPr/>
        </p:nvSpPr>
        <p:spPr>
          <a:xfrm>
            <a:off x="3910732" y="5957115"/>
            <a:ext cx="3241965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6CAA4EEB-B064-C798-BB6E-2C7141B84702}"/>
              </a:ext>
            </a:extLst>
          </p:cNvPr>
          <p:cNvSpPr/>
          <p:nvPr/>
        </p:nvSpPr>
        <p:spPr>
          <a:xfrm>
            <a:off x="4680820" y="5937865"/>
            <a:ext cx="3241965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27" name="Tabela 26">
            <a:extLst>
              <a:ext uri="{FF2B5EF4-FFF2-40B4-BE49-F238E27FC236}">
                <a16:creationId xmlns:a16="http://schemas.microsoft.com/office/drawing/2014/main" id="{C2478A7F-FD6A-67AE-1D73-8AE5E97CF1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344242"/>
              </p:ext>
            </p:extLst>
          </p:nvPr>
        </p:nvGraphicFramePr>
        <p:xfrm>
          <a:off x="1657350" y="5304204"/>
          <a:ext cx="303704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260">
                  <a:extLst>
                    <a:ext uri="{9D8B030D-6E8A-4147-A177-3AD203B41FA5}">
                      <a16:colId xmlns:a16="http://schemas.microsoft.com/office/drawing/2014/main" val="3824037456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1901449860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3121347910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3573430749"/>
                    </a:ext>
                  </a:extLst>
                </a:gridCol>
              </a:tblGrid>
              <a:tr h="404050"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-1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34631"/>
                  </a:ext>
                </a:extLst>
              </a:tr>
            </a:tbl>
          </a:graphicData>
        </a:graphic>
      </p:graphicFrame>
      <p:graphicFrame>
        <p:nvGraphicFramePr>
          <p:cNvPr id="28" name="Tabela 27">
            <a:extLst>
              <a:ext uri="{FF2B5EF4-FFF2-40B4-BE49-F238E27FC236}">
                <a16:creationId xmlns:a16="http://schemas.microsoft.com/office/drawing/2014/main" id="{98CB5E81-4772-BD4D-A771-97AEA9125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776339"/>
              </p:ext>
            </p:extLst>
          </p:nvPr>
        </p:nvGraphicFramePr>
        <p:xfrm>
          <a:off x="4694390" y="5304204"/>
          <a:ext cx="303704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260">
                  <a:extLst>
                    <a:ext uri="{9D8B030D-6E8A-4147-A177-3AD203B41FA5}">
                      <a16:colId xmlns:a16="http://schemas.microsoft.com/office/drawing/2014/main" val="3824037456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1901449860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3121347910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3573430749"/>
                    </a:ext>
                  </a:extLst>
                </a:gridCol>
              </a:tblGrid>
              <a:tr h="404050"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-1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34631"/>
                  </a:ext>
                </a:extLst>
              </a:tr>
            </a:tbl>
          </a:graphicData>
        </a:graphic>
      </p:graphicFrame>
      <p:graphicFrame>
        <p:nvGraphicFramePr>
          <p:cNvPr id="29" name="Tabela 28">
            <a:extLst>
              <a:ext uri="{FF2B5EF4-FFF2-40B4-BE49-F238E27FC236}">
                <a16:creationId xmlns:a16="http://schemas.microsoft.com/office/drawing/2014/main" id="{C37E9968-D275-5DE5-446E-3F0DCE660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987225"/>
              </p:ext>
            </p:extLst>
          </p:nvPr>
        </p:nvGraphicFramePr>
        <p:xfrm>
          <a:off x="2429074" y="5304204"/>
          <a:ext cx="303704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260">
                  <a:extLst>
                    <a:ext uri="{9D8B030D-6E8A-4147-A177-3AD203B41FA5}">
                      <a16:colId xmlns:a16="http://schemas.microsoft.com/office/drawing/2014/main" val="3824037456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1901449860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3121347910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3573430749"/>
                    </a:ext>
                  </a:extLst>
                </a:gridCol>
              </a:tblGrid>
              <a:tr h="404050"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-1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34631"/>
                  </a:ext>
                </a:extLst>
              </a:tr>
            </a:tbl>
          </a:graphicData>
        </a:graphic>
      </p:graphicFrame>
      <p:graphicFrame>
        <p:nvGraphicFramePr>
          <p:cNvPr id="30" name="Tabela 29">
            <a:extLst>
              <a:ext uri="{FF2B5EF4-FFF2-40B4-BE49-F238E27FC236}">
                <a16:creationId xmlns:a16="http://schemas.microsoft.com/office/drawing/2014/main" id="{FEB88CE9-6AFA-C5E7-6ADE-C77018289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157728"/>
              </p:ext>
            </p:extLst>
          </p:nvPr>
        </p:nvGraphicFramePr>
        <p:xfrm>
          <a:off x="5466114" y="5304204"/>
          <a:ext cx="303704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260">
                  <a:extLst>
                    <a:ext uri="{9D8B030D-6E8A-4147-A177-3AD203B41FA5}">
                      <a16:colId xmlns:a16="http://schemas.microsoft.com/office/drawing/2014/main" val="3824037456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1901449860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3121347910"/>
                    </a:ext>
                  </a:extLst>
                </a:gridCol>
                <a:gridCol w="759260">
                  <a:extLst>
                    <a:ext uri="{9D8B030D-6E8A-4147-A177-3AD203B41FA5}">
                      <a16:colId xmlns:a16="http://schemas.microsoft.com/office/drawing/2014/main" val="3573430749"/>
                    </a:ext>
                  </a:extLst>
                </a:gridCol>
              </a:tblGrid>
              <a:tr h="404050"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-1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34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5471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BDF63E6E-7DA6-DA7F-3696-F9AE98196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D610B068-9C88-BEBB-6613-46707CE29E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12190136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3200" noProof="0"/>
              <a:t>Circular and fast convolution using FFT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4F85E7B7-346B-7024-8F2B-08404ADBCAB8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Linear Time-Invariant Systems</a:t>
            </a:r>
            <a:endParaRPr lang="en-US" sz="1600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4026F9C8-929A-F917-C781-943D630674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14</a:t>
            </a:fld>
            <a:endParaRPr lang="en-US" noProof="0">
              <a:solidFill>
                <a:schemeClr val="lt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FB2DD8-16DE-82D3-F46E-61E5000D8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37" y="1716069"/>
            <a:ext cx="11709602" cy="8810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BFFCDC0C-1094-75F3-34B2-9CEA1AE3CA56}"/>
                  </a:ext>
                </a:extLst>
              </p:cNvPr>
              <p:cNvSpPr/>
              <p:nvPr/>
            </p:nvSpPr>
            <p:spPr>
              <a:xfrm>
                <a:off x="230037" y="2763149"/>
                <a:ext cx="9273762" cy="745046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𝒙</m:t>
                        </m:r>
                      </m:e>
                      <m:sub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𝟏</m:t>
                        </m:r>
                      </m:sub>
                    </m:sSub>
                    <m:r>
                      <a:rPr lang="en-US" sz="2400" b="1" i="1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[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𝒏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]</m:t>
                    </m:r>
                  </m:oMath>
                </a14:m>
                <a:r>
                  <a:rPr lang="en-US" sz="2400" b="1">
                    <a:latin typeface="Calibri"/>
                    <a:ea typeface="Calibri"/>
                    <a:cs typeface="Calibri"/>
                  </a:rPr>
                  <a:t> has support 4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𝒙</m:t>
                        </m:r>
                      </m:e>
                      <m:sub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𝟐</m:t>
                        </m:r>
                      </m:sub>
                    </m:sSub>
                    <m:r>
                      <a:rPr lang="en-US" sz="2400" b="1" i="1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[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𝒏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]</m:t>
                    </m:r>
                  </m:oMath>
                </a14:m>
                <a:r>
                  <a:rPr lang="en-US" sz="2400" b="1">
                    <a:latin typeface="Calibri"/>
                    <a:ea typeface="Calibri"/>
                    <a:cs typeface="Calibri"/>
                  </a:rPr>
                  <a:t> has support 3</a:t>
                </a:r>
              </a:p>
            </p:txBody>
          </p:sp>
        </mc:Choice>
        <mc:Fallback xmlns=""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BFFCDC0C-1094-75F3-34B2-9CEA1AE3CA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37" y="2763149"/>
                <a:ext cx="9273762" cy="74504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239363A1-0ADA-FD89-FF06-B342DDB64816}"/>
              </a:ext>
            </a:extLst>
          </p:cNvPr>
          <p:cNvSpPr/>
          <p:nvPr/>
        </p:nvSpPr>
        <p:spPr>
          <a:xfrm>
            <a:off x="230037" y="3611148"/>
            <a:ext cx="6192355" cy="745046"/>
          </a:xfrm>
          <a:prstGeom prst="roundRect">
            <a:avLst/>
          </a:prstGeom>
          <a:solidFill>
            <a:schemeClr val="tx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latin typeface="Calibri"/>
                <a:ea typeface="Calibri"/>
                <a:cs typeface="Calibri"/>
              </a:rPr>
              <a:t>FFT size = 6, pad with zeroes for x1 and x2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C435A39F-284A-6F64-8050-470BF7B38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064964"/>
              </p:ext>
            </p:extLst>
          </p:nvPr>
        </p:nvGraphicFramePr>
        <p:xfrm>
          <a:off x="2392212" y="4691591"/>
          <a:ext cx="303703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173">
                  <a:extLst>
                    <a:ext uri="{9D8B030D-6E8A-4147-A177-3AD203B41FA5}">
                      <a16:colId xmlns:a16="http://schemas.microsoft.com/office/drawing/2014/main" val="3824037456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190144986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12134791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573430749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1241905955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1616938002"/>
                    </a:ext>
                  </a:extLst>
                </a:gridCol>
              </a:tblGrid>
              <a:tr h="404050"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34631"/>
                  </a:ext>
                </a:extLst>
              </a:tr>
            </a:tbl>
          </a:graphicData>
        </a:graphic>
      </p:graphicFrame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4966B0AD-F3C3-E819-F743-14539D05F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999359"/>
              </p:ext>
            </p:extLst>
          </p:nvPr>
        </p:nvGraphicFramePr>
        <p:xfrm>
          <a:off x="6762748" y="4691591"/>
          <a:ext cx="303703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173">
                  <a:extLst>
                    <a:ext uri="{9D8B030D-6E8A-4147-A177-3AD203B41FA5}">
                      <a16:colId xmlns:a16="http://schemas.microsoft.com/office/drawing/2014/main" val="3824037456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190144986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12134791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573430749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2504870283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438215105"/>
                    </a:ext>
                  </a:extLst>
                </a:gridCol>
              </a:tblGrid>
              <a:tr h="404050"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34631"/>
                  </a:ext>
                </a:extLst>
              </a:tr>
            </a:tbl>
          </a:graphicData>
        </a:graphic>
      </p:graphicFrame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4568ABB0-20E6-8CE2-1835-21615815A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790471"/>
              </p:ext>
            </p:extLst>
          </p:nvPr>
        </p:nvGraphicFramePr>
        <p:xfrm>
          <a:off x="2409825" y="5948425"/>
          <a:ext cx="303703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173">
                  <a:extLst>
                    <a:ext uri="{9D8B030D-6E8A-4147-A177-3AD203B41FA5}">
                      <a16:colId xmlns:a16="http://schemas.microsoft.com/office/drawing/2014/main" val="3824037456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190144986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12134791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573430749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1816655676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1401026973"/>
                    </a:ext>
                  </a:extLst>
                </a:gridCol>
              </a:tblGrid>
              <a:tr h="404050"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1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2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2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2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-3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-4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34631"/>
                  </a:ext>
                </a:extLst>
              </a:tr>
            </a:tbl>
          </a:graphicData>
        </a:graphic>
      </p:graphicFrame>
      <p:sp>
        <p:nvSpPr>
          <p:cNvPr id="23" name="Retângulo 22">
            <a:extLst>
              <a:ext uri="{FF2B5EF4-FFF2-40B4-BE49-F238E27FC236}">
                <a16:creationId xmlns:a16="http://schemas.microsoft.com/office/drawing/2014/main" id="{1AED4508-5680-EBF3-CD0B-35E766463AF5}"/>
              </a:ext>
            </a:extLst>
          </p:cNvPr>
          <p:cNvSpPr/>
          <p:nvPr/>
        </p:nvSpPr>
        <p:spPr>
          <a:xfrm>
            <a:off x="2907431" y="5948425"/>
            <a:ext cx="3241965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F50704C-D1DD-B218-34BD-F6A10EE51106}"/>
              </a:ext>
            </a:extLst>
          </p:cNvPr>
          <p:cNvSpPr/>
          <p:nvPr/>
        </p:nvSpPr>
        <p:spPr>
          <a:xfrm>
            <a:off x="3405037" y="5960166"/>
            <a:ext cx="3241965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F4CA6253-0509-988B-7057-B5D963744349}"/>
              </a:ext>
            </a:extLst>
          </p:cNvPr>
          <p:cNvSpPr/>
          <p:nvPr/>
        </p:nvSpPr>
        <p:spPr>
          <a:xfrm>
            <a:off x="3910731" y="5962282"/>
            <a:ext cx="3241965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EEDBE4EA-6D1D-3024-A197-6F6053A0D0DD}"/>
              </a:ext>
            </a:extLst>
          </p:cNvPr>
          <p:cNvSpPr/>
          <p:nvPr/>
        </p:nvSpPr>
        <p:spPr>
          <a:xfrm>
            <a:off x="4425952" y="5944194"/>
            <a:ext cx="3241965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29" name="Tabela 28">
            <a:extLst>
              <a:ext uri="{FF2B5EF4-FFF2-40B4-BE49-F238E27FC236}">
                <a16:creationId xmlns:a16="http://schemas.microsoft.com/office/drawing/2014/main" id="{5F5DB7A8-6685-9735-6A9E-4EB5FBBF1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634562"/>
              </p:ext>
            </p:extLst>
          </p:nvPr>
        </p:nvGraphicFramePr>
        <p:xfrm>
          <a:off x="-129607" y="5312704"/>
          <a:ext cx="303703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173">
                  <a:extLst>
                    <a:ext uri="{9D8B030D-6E8A-4147-A177-3AD203B41FA5}">
                      <a16:colId xmlns:a16="http://schemas.microsoft.com/office/drawing/2014/main" val="866157241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966066553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824037456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190144986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12134791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573430749"/>
                    </a:ext>
                  </a:extLst>
                </a:gridCol>
              </a:tblGrid>
              <a:tr h="404050"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-1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34631"/>
                  </a:ext>
                </a:extLst>
              </a:tr>
            </a:tbl>
          </a:graphicData>
        </a:graphic>
      </p:graphicFrame>
      <p:graphicFrame>
        <p:nvGraphicFramePr>
          <p:cNvPr id="30" name="Tabela 29">
            <a:extLst>
              <a:ext uri="{FF2B5EF4-FFF2-40B4-BE49-F238E27FC236}">
                <a16:creationId xmlns:a16="http://schemas.microsoft.com/office/drawing/2014/main" id="{51DC77BD-458B-1042-1341-D9BA2D15C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623647"/>
              </p:ext>
            </p:extLst>
          </p:nvPr>
        </p:nvGraphicFramePr>
        <p:xfrm>
          <a:off x="2907433" y="5312704"/>
          <a:ext cx="303703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173">
                  <a:extLst>
                    <a:ext uri="{9D8B030D-6E8A-4147-A177-3AD203B41FA5}">
                      <a16:colId xmlns:a16="http://schemas.microsoft.com/office/drawing/2014/main" val="1296018787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1987884836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824037456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190144986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12134791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573430749"/>
                    </a:ext>
                  </a:extLst>
                </a:gridCol>
              </a:tblGrid>
              <a:tr h="404050"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-1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34631"/>
                  </a:ext>
                </a:extLst>
              </a:tr>
            </a:tbl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9FE75F33-2584-F597-2DA8-837918E85B4A}"/>
              </a:ext>
            </a:extLst>
          </p:cNvPr>
          <p:cNvSpPr/>
          <p:nvPr/>
        </p:nvSpPr>
        <p:spPr>
          <a:xfrm>
            <a:off x="2409825" y="5952161"/>
            <a:ext cx="3241965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6116B4A-12F6-432E-B64D-47CCD90265AE}"/>
              </a:ext>
            </a:extLst>
          </p:cNvPr>
          <p:cNvSpPr/>
          <p:nvPr/>
        </p:nvSpPr>
        <p:spPr>
          <a:xfrm>
            <a:off x="4942808" y="5944194"/>
            <a:ext cx="3241965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85D291D7-5921-6170-B790-8AB756F6B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28177"/>
              </p:ext>
            </p:extLst>
          </p:nvPr>
        </p:nvGraphicFramePr>
        <p:xfrm>
          <a:off x="377624" y="5320690"/>
          <a:ext cx="303703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173">
                  <a:extLst>
                    <a:ext uri="{9D8B030D-6E8A-4147-A177-3AD203B41FA5}">
                      <a16:colId xmlns:a16="http://schemas.microsoft.com/office/drawing/2014/main" val="866157241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966066553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824037456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190144986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12134791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573430749"/>
                    </a:ext>
                  </a:extLst>
                </a:gridCol>
              </a:tblGrid>
              <a:tr h="404050"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-1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34631"/>
                  </a:ext>
                </a:extLst>
              </a:tr>
            </a:tbl>
          </a:graphicData>
        </a:graphic>
      </p:graphicFrame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B8C75900-C831-A1AF-DD7E-E289A15C2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708010"/>
              </p:ext>
            </p:extLst>
          </p:nvPr>
        </p:nvGraphicFramePr>
        <p:xfrm>
          <a:off x="3414664" y="5320690"/>
          <a:ext cx="303703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173">
                  <a:extLst>
                    <a:ext uri="{9D8B030D-6E8A-4147-A177-3AD203B41FA5}">
                      <a16:colId xmlns:a16="http://schemas.microsoft.com/office/drawing/2014/main" val="1296018787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1987884836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824037456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190144986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12134791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573430749"/>
                    </a:ext>
                  </a:extLst>
                </a:gridCol>
              </a:tblGrid>
              <a:tr h="404050"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-1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34631"/>
                  </a:ext>
                </a:extLst>
              </a:tr>
            </a:tbl>
          </a:graphicData>
        </a:graphic>
      </p:graphicFrame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2E06F26A-841F-46DD-7326-0E66147C8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11080"/>
              </p:ext>
            </p:extLst>
          </p:nvPr>
        </p:nvGraphicFramePr>
        <p:xfrm>
          <a:off x="881679" y="5318098"/>
          <a:ext cx="303703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173">
                  <a:extLst>
                    <a:ext uri="{9D8B030D-6E8A-4147-A177-3AD203B41FA5}">
                      <a16:colId xmlns:a16="http://schemas.microsoft.com/office/drawing/2014/main" val="866157241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966066553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824037456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190144986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12134791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573430749"/>
                    </a:ext>
                  </a:extLst>
                </a:gridCol>
              </a:tblGrid>
              <a:tr h="404050"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-1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34631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B142A455-F892-0A2B-59CB-C7A11BFA71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348810"/>
              </p:ext>
            </p:extLst>
          </p:nvPr>
        </p:nvGraphicFramePr>
        <p:xfrm>
          <a:off x="3918719" y="5318098"/>
          <a:ext cx="303703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173">
                  <a:extLst>
                    <a:ext uri="{9D8B030D-6E8A-4147-A177-3AD203B41FA5}">
                      <a16:colId xmlns:a16="http://schemas.microsoft.com/office/drawing/2014/main" val="1296018787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1987884836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824037456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190144986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12134791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573430749"/>
                    </a:ext>
                  </a:extLst>
                </a:gridCol>
              </a:tblGrid>
              <a:tr h="404050"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-1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3463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7343DF54-1E56-2FBF-783F-DA3B3F7B6D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137372"/>
              </p:ext>
            </p:extLst>
          </p:nvPr>
        </p:nvGraphicFramePr>
        <p:xfrm>
          <a:off x="1385732" y="5326876"/>
          <a:ext cx="303703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173">
                  <a:extLst>
                    <a:ext uri="{9D8B030D-6E8A-4147-A177-3AD203B41FA5}">
                      <a16:colId xmlns:a16="http://schemas.microsoft.com/office/drawing/2014/main" val="866157241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966066553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824037456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190144986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12134791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573430749"/>
                    </a:ext>
                  </a:extLst>
                </a:gridCol>
              </a:tblGrid>
              <a:tr h="404050"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-1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34631"/>
                  </a:ext>
                </a:extLst>
              </a:tr>
            </a:tbl>
          </a:graphicData>
        </a:graphic>
      </p:graphicFrame>
      <p:graphicFrame>
        <p:nvGraphicFramePr>
          <p:cNvPr id="33" name="Tabela 32">
            <a:extLst>
              <a:ext uri="{FF2B5EF4-FFF2-40B4-BE49-F238E27FC236}">
                <a16:creationId xmlns:a16="http://schemas.microsoft.com/office/drawing/2014/main" id="{97DC5B9C-0649-C3E5-79DE-575E4653D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6292"/>
              </p:ext>
            </p:extLst>
          </p:nvPr>
        </p:nvGraphicFramePr>
        <p:xfrm>
          <a:off x="4422772" y="5326876"/>
          <a:ext cx="303703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173">
                  <a:extLst>
                    <a:ext uri="{9D8B030D-6E8A-4147-A177-3AD203B41FA5}">
                      <a16:colId xmlns:a16="http://schemas.microsoft.com/office/drawing/2014/main" val="1296018787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1987884836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824037456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190144986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12134791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573430749"/>
                    </a:ext>
                  </a:extLst>
                </a:gridCol>
              </a:tblGrid>
              <a:tr h="404050"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-1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34631"/>
                  </a:ext>
                </a:extLst>
              </a:tr>
            </a:tbl>
          </a:graphicData>
        </a:graphic>
      </p:graphicFrame>
      <p:graphicFrame>
        <p:nvGraphicFramePr>
          <p:cNvPr id="34" name="Tabela 33">
            <a:extLst>
              <a:ext uri="{FF2B5EF4-FFF2-40B4-BE49-F238E27FC236}">
                <a16:creationId xmlns:a16="http://schemas.microsoft.com/office/drawing/2014/main" id="{29812357-8C27-45A3-7C82-BC4F86F2AC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999102"/>
              </p:ext>
            </p:extLst>
          </p:nvPr>
        </p:nvGraphicFramePr>
        <p:xfrm>
          <a:off x="1896143" y="5333942"/>
          <a:ext cx="303703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173">
                  <a:extLst>
                    <a:ext uri="{9D8B030D-6E8A-4147-A177-3AD203B41FA5}">
                      <a16:colId xmlns:a16="http://schemas.microsoft.com/office/drawing/2014/main" val="866157241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966066553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824037456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190144986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12134791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573430749"/>
                    </a:ext>
                  </a:extLst>
                </a:gridCol>
              </a:tblGrid>
              <a:tr h="404050"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-1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34631"/>
                  </a:ext>
                </a:extLst>
              </a:tr>
            </a:tbl>
          </a:graphicData>
        </a:graphic>
      </p:graphicFrame>
      <p:graphicFrame>
        <p:nvGraphicFramePr>
          <p:cNvPr id="35" name="Tabela 34">
            <a:extLst>
              <a:ext uri="{FF2B5EF4-FFF2-40B4-BE49-F238E27FC236}">
                <a16:creationId xmlns:a16="http://schemas.microsoft.com/office/drawing/2014/main" id="{782FB9EC-86FD-4843-CECA-B289C94D89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509099"/>
              </p:ext>
            </p:extLst>
          </p:nvPr>
        </p:nvGraphicFramePr>
        <p:xfrm>
          <a:off x="4933183" y="5333942"/>
          <a:ext cx="303703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173">
                  <a:extLst>
                    <a:ext uri="{9D8B030D-6E8A-4147-A177-3AD203B41FA5}">
                      <a16:colId xmlns:a16="http://schemas.microsoft.com/office/drawing/2014/main" val="1296018787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1987884836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824037456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190144986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12134791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573430749"/>
                    </a:ext>
                  </a:extLst>
                </a:gridCol>
              </a:tblGrid>
              <a:tr h="404050"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-1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34631"/>
                  </a:ext>
                </a:extLst>
              </a:tr>
            </a:tbl>
          </a:graphicData>
        </a:graphic>
      </p:graphicFrame>
      <p:graphicFrame>
        <p:nvGraphicFramePr>
          <p:cNvPr id="36" name="Tabela 35">
            <a:extLst>
              <a:ext uri="{FF2B5EF4-FFF2-40B4-BE49-F238E27FC236}">
                <a16:creationId xmlns:a16="http://schemas.microsoft.com/office/drawing/2014/main" id="{E3925E5A-16E2-8CF8-2D38-E8365E2FA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956967"/>
              </p:ext>
            </p:extLst>
          </p:nvPr>
        </p:nvGraphicFramePr>
        <p:xfrm>
          <a:off x="2400196" y="5332303"/>
          <a:ext cx="303703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173">
                  <a:extLst>
                    <a:ext uri="{9D8B030D-6E8A-4147-A177-3AD203B41FA5}">
                      <a16:colId xmlns:a16="http://schemas.microsoft.com/office/drawing/2014/main" val="866157241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966066553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824037456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190144986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12134791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573430749"/>
                    </a:ext>
                  </a:extLst>
                </a:gridCol>
              </a:tblGrid>
              <a:tr h="404050"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-1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34631"/>
                  </a:ext>
                </a:extLst>
              </a:tr>
            </a:tbl>
          </a:graphicData>
        </a:graphic>
      </p:graphicFrame>
      <p:graphicFrame>
        <p:nvGraphicFramePr>
          <p:cNvPr id="37" name="Tabela 36">
            <a:extLst>
              <a:ext uri="{FF2B5EF4-FFF2-40B4-BE49-F238E27FC236}">
                <a16:creationId xmlns:a16="http://schemas.microsoft.com/office/drawing/2014/main" id="{F489325D-D721-6168-07F2-6D5DCADC4D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191844"/>
              </p:ext>
            </p:extLst>
          </p:nvPr>
        </p:nvGraphicFramePr>
        <p:xfrm>
          <a:off x="5437236" y="5332303"/>
          <a:ext cx="303703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173">
                  <a:extLst>
                    <a:ext uri="{9D8B030D-6E8A-4147-A177-3AD203B41FA5}">
                      <a16:colId xmlns:a16="http://schemas.microsoft.com/office/drawing/2014/main" val="1296018787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1987884836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824037456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190144986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121347910"/>
                    </a:ext>
                  </a:extLst>
                </a:gridCol>
                <a:gridCol w="506173">
                  <a:extLst>
                    <a:ext uri="{9D8B030D-6E8A-4147-A177-3AD203B41FA5}">
                      <a16:colId xmlns:a16="http://schemas.microsoft.com/office/drawing/2014/main" val="3573430749"/>
                    </a:ext>
                  </a:extLst>
                </a:gridCol>
              </a:tblGrid>
              <a:tr h="404050"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-1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/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34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8891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5" grpId="0" animBg="1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DF717828-07D3-0619-3DA5-FDBE95A9A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2C20BCE7-0A29-F203-5F7E-0BE0019C99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12190136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Sampling Theorem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7CDAA0C1-D5FE-66BA-FECA-2900B1E75000}"/>
              </a:ext>
            </a:extLst>
          </p:cNvPr>
          <p:cNvSpPr txBox="1"/>
          <p:nvPr/>
        </p:nvSpPr>
        <p:spPr bwMode="auto">
          <a:xfrm>
            <a:off x="0" y="0"/>
            <a:ext cx="12192000" cy="4816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Advanced: Sampling and Signal Reconstruction Revisited</a:t>
            </a:r>
            <a:endParaRPr lang="en-US" sz="1600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7B4F88A4-C561-AEBD-F959-61DA71173E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15</a:t>
            </a:fld>
            <a:endParaRPr lang="en-US" noProof="0">
              <a:solidFill>
                <a:schemeClr val="lt1"/>
              </a:solidFill>
            </a:endParaRPr>
          </a:p>
        </p:txBody>
      </p:sp>
      <p:pic>
        <p:nvPicPr>
          <p:cNvPr id="4" name="Picture 3" descr="A diagram of a square and a square with arrows&#10;&#10;AI-generated content may be incorrect.">
            <a:extLst>
              <a:ext uri="{FF2B5EF4-FFF2-40B4-BE49-F238E27FC236}">
                <a16:creationId xmlns:a16="http://schemas.microsoft.com/office/drawing/2014/main" id="{6A1B0BA6-94C3-F88A-984D-5C1E57C82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8" y="3274443"/>
            <a:ext cx="12087225" cy="2667000"/>
          </a:xfrm>
          <a:prstGeom prst="rect">
            <a:avLst/>
          </a:prstGeom>
        </p:spPr>
      </p:pic>
      <p:pic>
        <p:nvPicPr>
          <p:cNvPr id="5" name="Picture 4" descr="A number of symbols on a white background&#10;&#10;AI-generated content may be incorrect.">
            <a:extLst>
              <a:ext uri="{FF2B5EF4-FFF2-40B4-BE49-F238E27FC236}">
                <a16:creationId xmlns:a16="http://schemas.microsoft.com/office/drawing/2014/main" id="{27E9A132-26E2-F149-1B6F-30EAC38B6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838" y="2002406"/>
            <a:ext cx="3357010" cy="653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A38639-EE70-5455-AE9B-5AEDC51FA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674" y="1346619"/>
            <a:ext cx="2524125" cy="742950"/>
          </a:xfrm>
          <a:prstGeom prst="rect">
            <a:avLst/>
          </a:prstGeom>
          <a:ln w="28575">
            <a:solidFill>
              <a:schemeClr val="tx2">
                <a:lumMod val="1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8CE220-89EB-3A56-6189-C9597FDDC3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8113" y="577796"/>
            <a:ext cx="8218312" cy="130293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47023D-59B7-42C2-8B3D-DF7F0F25BCE1}"/>
              </a:ext>
            </a:extLst>
          </p:cNvPr>
          <p:cNvCxnSpPr/>
          <p:nvPr/>
        </p:nvCxnSpPr>
        <p:spPr>
          <a:xfrm flipV="1">
            <a:off x="174625" y="2921839"/>
            <a:ext cx="11381116" cy="6326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079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27533F3-2AFF-2837-B40F-2C09B0F1A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5209EDED-FC2E-FC14-8CF6-6C8754A518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8550353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Discussion on Filters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93A835F0-3325-9AC6-43CB-BA429C13F2B0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Quick Discussion About Filters</a:t>
            </a:r>
            <a:endParaRPr lang="en-US" sz="1600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4927573A-0848-0122-FF31-9FB14C9BC8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16</a:t>
            </a:fld>
            <a:endParaRPr lang="en-US" noProof="0">
              <a:solidFill>
                <a:schemeClr val="lt1"/>
              </a:solidFill>
            </a:endParaRPr>
          </a:p>
        </p:txBody>
      </p:sp>
      <p:pic>
        <p:nvPicPr>
          <p:cNvPr id="2" name="Picture 1" descr="A graph of a function&#10;&#10;AI-generated content may be incorrect.">
            <a:extLst>
              <a:ext uri="{FF2B5EF4-FFF2-40B4-BE49-F238E27FC236}">
                <a16:creationId xmlns:a16="http://schemas.microsoft.com/office/drawing/2014/main" id="{53CE8C0D-64ED-C26D-A6E0-2A0061F3D8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4" t="86072" r="-168" b="269"/>
          <a:stretch>
            <a:fillRect/>
          </a:stretch>
        </p:blipFill>
        <p:spPr>
          <a:xfrm>
            <a:off x="390" y="5823386"/>
            <a:ext cx="8564403" cy="729162"/>
          </a:xfrm>
          <a:prstGeom prst="rect">
            <a:avLst/>
          </a:prstGeom>
        </p:spPr>
      </p:pic>
      <p:pic>
        <p:nvPicPr>
          <p:cNvPr id="5" name="Picture 4" descr="A graph of a function&#10;&#10;AI-generated content may be incorrect.">
            <a:extLst>
              <a:ext uri="{FF2B5EF4-FFF2-40B4-BE49-F238E27FC236}">
                <a16:creationId xmlns:a16="http://schemas.microsoft.com/office/drawing/2014/main" id="{07D6A244-ED94-3C8B-FAB1-E8B32EE248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15" r="14646" b="13441"/>
          <a:stretch>
            <a:fillRect/>
          </a:stretch>
        </p:blipFill>
        <p:spPr>
          <a:xfrm>
            <a:off x="191039" y="1219918"/>
            <a:ext cx="6028431" cy="4620802"/>
          </a:xfrm>
          <a:prstGeom prst="rect">
            <a:avLst/>
          </a:prstGeom>
        </p:spPr>
      </p:pic>
      <p:pic>
        <p:nvPicPr>
          <p:cNvPr id="6" name="Picture 5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305959AC-6385-4300-8868-BA6D697A01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211" t="9091" r="290"/>
          <a:stretch>
            <a:fillRect/>
          </a:stretch>
        </p:blipFill>
        <p:spPr>
          <a:xfrm>
            <a:off x="6178490" y="2145012"/>
            <a:ext cx="5913595" cy="242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089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004363FF-EA1B-4080-0E1D-FD88BF1CF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C0D16E9A-2C44-9A8F-5FDC-C69A6B3F10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8550353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Linear Phase Filters 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1E99D519-FB10-2C6B-CC7C-0DFED9454D52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Importance of Linear Phase (or Constant Group Delay)</a:t>
            </a:r>
            <a:endParaRPr lang="en-US" sz="1600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206FA2EA-D98D-CA11-62B0-2CCB112208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17</a:t>
            </a:fld>
            <a:endParaRPr lang="en-US" noProof="0">
              <a:solidFill>
                <a:schemeClr val="lt1"/>
              </a:solidFill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D895F96-B054-5405-969F-584EAF77E608}"/>
              </a:ext>
            </a:extLst>
          </p:cNvPr>
          <p:cNvSpPr/>
          <p:nvPr/>
        </p:nvSpPr>
        <p:spPr>
          <a:xfrm>
            <a:off x="144840" y="1547405"/>
            <a:ext cx="3569910" cy="2310220"/>
          </a:xfrm>
          <a:prstGeom prst="roundRect">
            <a:avLst/>
          </a:prstGeom>
          <a:solidFill>
            <a:schemeClr val="tx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latin typeface="Calibri"/>
                <a:ea typeface="Calibri"/>
                <a:cs typeface="Calibri"/>
              </a:rPr>
              <a:t>The response delay to a complex exponential is the derivative of the phase of the frequency response to that exponential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647548DC-DFD6-6ABC-7C30-F86DC35436F3}"/>
                  </a:ext>
                </a:extLst>
              </p:cNvPr>
              <p:cNvSpPr/>
              <p:nvPr/>
            </p:nvSpPr>
            <p:spPr>
              <a:xfrm>
                <a:off x="357617" y="4004577"/>
                <a:ext cx="3144356" cy="1649000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  <m:d>
                        <m:dPr>
                          <m:ctrlP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  <m:r>
                        <a:rPr lang="en-US" sz="2000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1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num>
                        <m:den>
                          <m: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den>
                      </m:f>
                      <m:r>
                        <a:rPr lang="en-US" sz="2000" b="1" i="1" noProof="0" smtClean="0"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sz="2000" b="1" i="1" noProof="0" smtClean="0"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en-US" sz="2000" b="1" noProof="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  <m:d>
                        <m:dPr>
                          <m:ctrlP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noProof="0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2000" b="1" i="1" noProof="0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sz="2000" b="1" i="0" noProof="0" smtClean="0">
                                  <a:latin typeface="Cambria Math" panose="02040503050406030204" pitchFamily="18" charset="0"/>
                                </a:rPr>
                                <m:t>𝛀</m:t>
                              </m:r>
                            </m:sup>
                          </m:sSup>
                        </m:e>
                      </m:d>
                      <m:r>
                        <a:rPr lang="en-US" sz="2000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1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num>
                        <m:den>
                          <m: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sz="2000" b="1" i="0" noProof="0" smtClean="0">
                              <a:latin typeface="Cambria Math" panose="02040503050406030204" pitchFamily="18" charset="0"/>
                            </a:rPr>
                            <m:t>𝛀</m:t>
                          </m:r>
                        </m:den>
                      </m:f>
                      <m:r>
                        <a:rPr lang="en-US" sz="2000" b="1" i="1" noProof="0" smtClean="0"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sz="2000" b="1" i="1" noProof="0" smtClean="0"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noProof="0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2000" b="1" i="1" noProof="0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sz="2000" b="1" i="0" noProof="0" smtClean="0">
                                  <a:latin typeface="Cambria Math" panose="02040503050406030204" pitchFamily="18" charset="0"/>
                                </a:rPr>
                                <m:t>𝛀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b="1" noProof="0" dirty="0"/>
              </a:p>
            </p:txBody>
          </p:sp>
        </mc:Choice>
        <mc:Fallback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647548DC-DFD6-6ABC-7C30-F86DC35436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617" y="4004577"/>
                <a:ext cx="3144356" cy="16490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35A096F-B90C-1C92-C319-C81CBC538EB5}"/>
              </a:ext>
            </a:extLst>
          </p:cNvPr>
          <p:cNvSpPr/>
          <p:nvPr/>
        </p:nvSpPr>
        <p:spPr>
          <a:xfrm>
            <a:off x="3714750" y="5653577"/>
            <a:ext cx="3823695" cy="1102829"/>
          </a:xfrm>
          <a:prstGeom prst="roundRect">
            <a:avLst/>
          </a:prstGeom>
          <a:solidFill>
            <a:schemeClr val="tx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latin typeface="Calibri"/>
                <a:ea typeface="Calibri"/>
                <a:cs typeface="Calibri"/>
              </a:rPr>
              <a:t>A symmetric FIR filter has constant group delay</a:t>
            </a:r>
          </a:p>
        </p:txBody>
      </p:sp>
      <p:pic>
        <p:nvPicPr>
          <p:cNvPr id="5" name="Imagem 4" descr="PIC">
            <a:extLst>
              <a:ext uri="{FF2B5EF4-FFF2-40B4-BE49-F238E27FC236}">
                <a16:creationId xmlns:a16="http://schemas.microsoft.com/office/drawing/2014/main" id="{4FB7AF79-736E-76D6-057C-E5DECF871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3098" y="1765874"/>
            <a:ext cx="3674532" cy="3326251"/>
          </a:xfrm>
          <a:prstGeom prst="rect">
            <a:avLst/>
          </a:prstGeom>
        </p:spPr>
      </p:pic>
      <p:pic>
        <p:nvPicPr>
          <p:cNvPr id="10" name="Imagem 9" descr="PIC">
            <a:extLst>
              <a:ext uri="{FF2B5EF4-FFF2-40B4-BE49-F238E27FC236}">
                <a16:creationId xmlns:a16="http://schemas.microsoft.com/office/drawing/2014/main" id="{AC77D3FD-7C48-F55A-3A3E-A5CD7B5CEE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305"/>
          <a:stretch>
            <a:fillRect/>
          </a:stretch>
        </p:blipFill>
        <p:spPr>
          <a:xfrm>
            <a:off x="8072588" y="731702"/>
            <a:ext cx="4103757" cy="4993836"/>
          </a:xfrm>
          <a:prstGeom prst="rect">
            <a:avLst/>
          </a:prstGeom>
        </p:spPr>
      </p:pic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79E9BB6-2BEA-2421-53DE-2B51CF1B1EF7}"/>
              </a:ext>
            </a:extLst>
          </p:cNvPr>
          <p:cNvSpPr/>
          <p:nvPr/>
        </p:nvSpPr>
        <p:spPr>
          <a:xfrm>
            <a:off x="7958288" y="5653577"/>
            <a:ext cx="4103757" cy="1073850"/>
          </a:xfrm>
          <a:prstGeom prst="roundRect">
            <a:avLst/>
          </a:prstGeom>
          <a:solidFill>
            <a:schemeClr val="tx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latin typeface="Calibri"/>
                <a:ea typeface="Calibri"/>
                <a:cs typeface="Calibri"/>
              </a:rPr>
              <a:t>Analog filters may get close to but can’t achieve linear phase</a:t>
            </a:r>
          </a:p>
        </p:txBody>
      </p:sp>
    </p:spTree>
    <p:extLst>
      <p:ext uri="{BB962C8B-B14F-4D97-AF65-F5344CB8AC3E}">
        <p14:creationId xmlns:p14="http://schemas.microsoft.com/office/powerpoint/2010/main" val="2889340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>
          <a:extLst>
            <a:ext uri="{FF2B5EF4-FFF2-40B4-BE49-F238E27FC236}">
              <a16:creationId xmlns:a16="http://schemas.microsoft.com/office/drawing/2014/main" id="{A858D753-66B8-0C5D-FBF2-05FE8DB71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>
            <a:extLst>
              <a:ext uri="{FF2B5EF4-FFF2-40B4-BE49-F238E27FC236}">
                <a16:creationId xmlns:a16="http://schemas.microsoft.com/office/drawing/2014/main" id="{D75FE424-F512-75C2-3C9B-1E843B5BBCB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89581" y="1047648"/>
            <a:ext cx="10531200" cy="3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b" anchorCtr="0">
            <a:normAutofit/>
          </a:bodyPr>
          <a:lstStyle/>
          <a:p>
            <a:pPr>
              <a:buClr>
                <a:schemeClr val="accent6"/>
              </a:buClr>
              <a:buSzPct val="100000"/>
            </a:pPr>
            <a:br>
              <a:rPr lang="en-US" sz="4800" noProof="0">
                <a:solidFill>
                  <a:schemeClr val="accent6"/>
                </a:solidFill>
              </a:rPr>
            </a:br>
            <a:r>
              <a:rPr lang="en-US" sz="5867" noProof="0">
                <a:solidFill>
                  <a:schemeClr val="accent6"/>
                </a:solidFill>
              </a:rPr>
              <a:t>Thank you!</a:t>
            </a:r>
            <a:br>
              <a:rPr lang="en-US" sz="5867" noProof="0">
                <a:solidFill>
                  <a:schemeClr val="accent6"/>
                </a:solidFill>
              </a:rPr>
            </a:br>
            <a:endParaRPr lang="en-US" noProof="0">
              <a:solidFill>
                <a:schemeClr val="accent6"/>
              </a:solidFill>
            </a:endParaRPr>
          </a:p>
        </p:txBody>
      </p:sp>
      <p:sp>
        <p:nvSpPr>
          <p:cNvPr id="36" name="Google Shape;36;p6">
            <a:extLst>
              <a:ext uri="{FF2B5EF4-FFF2-40B4-BE49-F238E27FC236}">
                <a16:creationId xmlns:a16="http://schemas.microsoft.com/office/drawing/2014/main" id="{6376D4D1-6AA7-5EB6-8A1D-BB2F07FAEFC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419013" y="4842880"/>
            <a:ext cx="9472400" cy="12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Clr>
                <a:srgbClr val="0C5ADB"/>
              </a:buClr>
              <a:buSzPts val="2100"/>
            </a:pPr>
            <a:r>
              <a:rPr lang="en-US" sz="2800" b="1" noProof="0">
                <a:solidFill>
                  <a:srgbClr val="0C5ADB"/>
                </a:solidFill>
              </a:rPr>
              <a:t>Prof. Aldebaro Klautau.</a:t>
            </a:r>
            <a:br>
              <a:rPr lang="en-US" sz="2800" b="1" noProof="0">
                <a:solidFill>
                  <a:srgbClr val="0C5ADB"/>
                </a:solidFill>
              </a:rPr>
            </a:br>
            <a:r>
              <a:rPr lang="en-US" sz="2800" b="1" noProof="0">
                <a:solidFill>
                  <a:srgbClr val="0C5ADB"/>
                </a:solidFill>
              </a:rPr>
              <a:t>Federal University of Pará (UFPA)</a:t>
            </a:r>
            <a:endParaRPr lang="en-US" noProof="0"/>
          </a:p>
        </p:txBody>
      </p:sp>
      <p:sp>
        <p:nvSpPr>
          <p:cNvPr id="37" name="Google Shape;37;p6">
            <a:extLst>
              <a:ext uri="{FF2B5EF4-FFF2-40B4-BE49-F238E27FC236}">
                <a16:creationId xmlns:a16="http://schemas.microsoft.com/office/drawing/2014/main" id="{BEA730A7-0F15-D559-1EA1-8E4389F4A206}"/>
              </a:ext>
            </a:extLst>
          </p:cNvPr>
          <p:cNvSpPr txBox="1"/>
          <p:nvPr/>
        </p:nvSpPr>
        <p:spPr>
          <a:xfrm>
            <a:off x="1315311" y="5882400"/>
            <a:ext cx="9680000" cy="9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/>
          <a:p>
            <a:pPr algn="ctr">
              <a:lnSpc>
                <a:spcPct val="90000"/>
              </a:lnSpc>
              <a:buClr>
                <a:srgbClr val="0C5ADB"/>
              </a:buClr>
              <a:buSzPts val="2100"/>
            </a:pPr>
            <a:r>
              <a:rPr lang="en-US" sz="2800" noProof="0">
                <a:solidFill>
                  <a:srgbClr val="0C5ADB"/>
                </a:solidFill>
                <a:latin typeface="Calibri"/>
                <a:ea typeface="Calibri"/>
                <a:cs typeface="Calibri"/>
                <a:sym typeface="Calibri"/>
              </a:rPr>
              <a:t>www.lasse.ufpa.br   &amp;   www.ppgee.ufpa.br</a:t>
            </a:r>
            <a:endParaRPr lang="en-US" sz="2400" noProof="0"/>
          </a:p>
        </p:txBody>
      </p:sp>
    </p:spTree>
    <p:extLst>
      <p:ext uri="{BB962C8B-B14F-4D97-AF65-F5344CB8AC3E}">
        <p14:creationId xmlns:p14="http://schemas.microsoft.com/office/powerpoint/2010/main" val="3793562107"/>
      </p:ext>
    </p:extLst>
  </p:cSld>
  <p:clrMapOvr>
    <a:masterClrMapping/>
  </p:clrMapOvr>
</p:sld>
</file>

<file path=ppt/theme/theme1.xml><?xml version="1.0" encoding="utf-8"?>
<a:theme xmlns:a="http://schemas.openxmlformats.org/drawingml/2006/main" name="LASSE">
  <a:themeElements>
    <a:clrScheme name="Custom 4">
      <a:dk1>
        <a:srgbClr val="4285F4"/>
      </a:dk1>
      <a:lt1>
        <a:srgbClr val="FFFFFF"/>
      </a:lt1>
      <a:dk2>
        <a:srgbClr val="A0C3FF"/>
      </a:dk2>
      <a:lt2>
        <a:srgbClr val="F2F2F2"/>
      </a:lt2>
      <a:accent1>
        <a:srgbClr val="E59000"/>
      </a:accent1>
      <a:accent2>
        <a:srgbClr val="0F9D58"/>
      </a:accent2>
      <a:accent3>
        <a:srgbClr val="E59000"/>
      </a:accent3>
      <a:accent4>
        <a:srgbClr val="76A7FA"/>
      </a:accent4>
      <a:accent5>
        <a:srgbClr val="33B679"/>
      </a:accent5>
      <a:accent6>
        <a:srgbClr val="FF8E1C"/>
      </a:accent6>
      <a:hlink>
        <a:srgbClr val="0563C1"/>
      </a:hlink>
      <a:folHlink>
        <a:srgbClr val="E59000"/>
      </a:folHlink>
    </a:clrScheme>
    <a:fontScheme name="Escritório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ASSE" id="{BE30A4F1-1BF8-4DA4-B59B-AB54573862DA}" vid="{BE65E250-7B1D-4EF0-9425-07FF56316B88}"/>
    </a:ext>
  </a:extLst>
</a:theme>
</file>

<file path=ppt/theme/theme2.xml><?xml version="1.0" encoding="utf-8"?>
<a:theme xmlns:a="http://schemas.openxmlformats.org/drawingml/2006/main" name="2_LASSE">
  <a:themeElements>
    <a:clrScheme name="Custom 4">
      <a:dk1>
        <a:srgbClr val="4285F4"/>
      </a:dk1>
      <a:lt1>
        <a:srgbClr val="FFFFFF"/>
      </a:lt1>
      <a:dk2>
        <a:srgbClr val="A0C3FF"/>
      </a:dk2>
      <a:lt2>
        <a:srgbClr val="F2F2F2"/>
      </a:lt2>
      <a:accent1>
        <a:srgbClr val="E59000"/>
      </a:accent1>
      <a:accent2>
        <a:srgbClr val="0F9D58"/>
      </a:accent2>
      <a:accent3>
        <a:srgbClr val="E59000"/>
      </a:accent3>
      <a:accent4>
        <a:srgbClr val="76A7FA"/>
      </a:accent4>
      <a:accent5>
        <a:srgbClr val="33B679"/>
      </a:accent5>
      <a:accent6>
        <a:srgbClr val="FF8E1C"/>
      </a:accent6>
      <a:hlink>
        <a:srgbClr val="0563C1"/>
      </a:hlink>
      <a:folHlink>
        <a:srgbClr val="E59000"/>
      </a:folHlink>
    </a:clrScheme>
    <a:fontScheme name="Escritório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ASSE" id="{BE30A4F1-1BF8-4DA4-B59B-AB54573862DA}" vid="{BE65E250-7B1D-4EF0-9425-07FF56316B88}"/>
    </a:ext>
  </a:extLst>
</a:theme>
</file>

<file path=ppt/theme/theme3.xml><?xml version="1.0" encoding="utf-8"?>
<a:theme xmlns:a="http://schemas.openxmlformats.org/drawingml/2006/main" name="3_LASSE">
  <a:themeElements>
    <a:clrScheme name="Custom 4">
      <a:dk1>
        <a:srgbClr val="4285F4"/>
      </a:dk1>
      <a:lt1>
        <a:srgbClr val="FFFFFF"/>
      </a:lt1>
      <a:dk2>
        <a:srgbClr val="A0C3FF"/>
      </a:dk2>
      <a:lt2>
        <a:srgbClr val="F2F2F2"/>
      </a:lt2>
      <a:accent1>
        <a:srgbClr val="E59000"/>
      </a:accent1>
      <a:accent2>
        <a:srgbClr val="0F9D58"/>
      </a:accent2>
      <a:accent3>
        <a:srgbClr val="E59000"/>
      </a:accent3>
      <a:accent4>
        <a:srgbClr val="76A7FA"/>
      </a:accent4>
      <a:accent5>
        <a:srgbClr val="33B679"/>
      </a:accent5>
      <a:accent6>
        <a:srgbClr val="FF8E1C"/>
      </a:accent6>
      <a:hlink>
        <a:srgbClr val="0563C1"/>
      </a:hlink>
      <a:folHlink>
        <a:srgbClr val="E59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ntn-ai-3gpp-2</Template>
  <TotalTime>0</TotalTime>
  <Words>812</Words>
  <Application>Microsoft Office PowerPoint</Application>
  <PresentationFormat>Widescreen</PresentationFormat>
  <Paragraphs>239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18</vt:i4>
      </vt:variant>
    </vt:vector>
  </HeadingPairs>
  <TitlesOfParts>
    <vt:vector size="26" baseType="lpstr">
      <vt:lpstr>Aptos</vt:lpstr>
      <vt:lpstr>Arial</vt:lpstr>
      <vt:lpstr>Calibri</vt:lpstr>
      <vt:lpstr>Calibri Light</vt:lpstr>
      <vt:lpstr>Cambria Math</vt:lpstr>
      <vt:lpstr>LASSE</vt:lpstr>
      <vt:lpstr>2_LASSE</vt:lpstr>
      <vt:lpstr>3_LASSE</vt:lpstr>
      <vt:lpstr> Digital Signal Processing  Analog and Digital Systems </vt:lpstr>
      <vt:lpstr>Signals vs Systems</vt:lpstr>
      <vt:lpstr>Linear Systems</vt:lpstr>
      <vt:lpstr>Time-Invariant Systems</vt:lpstr>
      <vt:lpstr>LTI system impulse response example</vt:lpstr>
      <vt:lpstr>The convolution operator as the core of LTI Systems</vt:lpstr>
      <vt:lpstr>Graphical example of convolution (impulse) - example 1/3</vt:lpstr>
      <vt:lpstr>Graphical example of convolution (rectangular) - example 2/3</vt:lpstr>
      <vt:lpstr>Graphical example of convolution (edge detector) - example 3/3</vt:lpstr>
      <vt:lpstr>Convolution in time domain is a multiplication in frequency domain</vt:lpstr>
      <vt:lpstr>Convolution in time domain is a multiplication in frequency domain</vt:lpstr>
      <vt:lpstr>(Circular) Convolution using DTFTs and inverse DTFT</vt:lpstr>
      <vt:lpstr>Circular and fast convolution using FFT</vt:lpstr>
      <vt:lpstr>Circular and fast convolution using FFT</vt:lpstr>
      <vt:lpstr>Sampling Theorem</vt:lpstr>
      <vt:lpstr>Discussion on Filters</vt:lpstr>
      <vt:lpstr>Linear Phase Filters </vt:lpstr>
      <vt:lpstr> 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Breno Silva</dc:creator>
  <cp:lastModifiedBy>Breno Silva</cp:lastModifiedBy>
  <cp:revision>1</cp:revision>
  <dcterms:created xsi:type="dcterms:W3CDTF">2026-04-21T03:03:39Z</dcterms:created>
  <dcterms:modified xsi:type="dcterms:W3CDTF">2026-07-02T14:59:45Z</dcterms:modified>
</cp:coreProperties>
</file>