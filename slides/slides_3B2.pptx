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5" r:id="rId3"/>
  </p:sldMasterIdLst>
  <p:notesMasterIdLst>
    <p:notesMasterId r:id="rId18"/>
  </p:notesMasterIdLst>
  <p:sldIdLst>
    <p:sldId id="258" r:id="rId4"/>
    <p:sldId id="347" r:id="rId5"/>
    <p:sldId id="353" r:id="rId6"/>
    <p:sldId id="344" r:id="rId7"/>
    <p:sldId id="346" r:id="rId8"/>
    <p:sldId id="341" r:id="rId9"/>
    <p:sldId id="345" r:id="rId10"/>
    <p:sldId id="342" r:id="rId11"/>
    <p:sldId id="338" r:id="rId12"/>
    <p:sldId id="343" r:id="rId13"/>
    <p:sldId id="340" r:id="rId14"/>
    <p:sldId id="339" r:id="rId15"/>
    <p:sldId id="35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C4FAE4A-B207-4FF2-B6D9-2DA09EA1BC42}">
          <p14:sldIdLst>
            <p14:sldId id="258"/>
            <p14:sldId id="347"/>
            <p14:sldId id="353"/>
            <p14:sldId id="344"/>
            <p14:sldId id="346"/>
            <p14:sldId id="341"/>
            <p14:sldId id="345"/>
            <p14:sldId id="342"/>
            <p14:sldId id="338"/>
            <p14:sldId id="343"/>
            <p14:sldId id="340"/>
            <p14:sldId id="339"/>
            <p14:sldId id="354"/>
            <p14:sldId id="28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DED50C-E34D-AFFF-D85C-E78EEFDB4F2E}" name="Lucas Mozart" initials="LM" userId="980d2b913cf724f7" providerId="Windows Live"/>
  <p188:author id="{3F85C41C-DF4F-56C1-1D90-EBFF7D5BBAE8}" name="Breno Silva" initials="BS" userId="c065c6085e3e68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1BBFB-EFBE-4D19-AB65-6EE74DECF484}" v="3172" dt="2026-06-11T14:34:03.335"/>
    <p1510:client id="{725A95B9-9CDF-B9CA-6859-B60442BF5F74}" v="329" dt="2026-06-11T14:34:00.634"/>
    <p1510:client id="{A3B602A9-07D2-488A-AB80-051D01CCC82C}" v="529" dt="2026-06-10T21:54:22.573"/>
    <p1510:client id="{D199C4AF-89DB-B9FF-30A6-BD0DB2A95F96}" v="2918" dt="2026-06-10T21:27:45.709"/>
    <p1510:client id="{D241F592-0536-788F-7219-41B4C9315226}" v="36" dt="2026-06-10T21:35:28.952"/>
    <p1510:client id="{FB82CD31-AF24-43B5-9AE2-EDF245E4527C}" v="276" dt="2026-06-11T16:28:20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o Silva" userId="c065c6085e3e68de" providerId="LiveId" clId="{E12F296E-1854-4384-B1C9-054B07E5CBF1}"/>
    <pc:docChg chg="custSel modSld">
      <pc:chgData name="Breno Silva" userId="c065c6085e3e68de" providerId="LiveId" clId="{E12F296E-1854-4384-B1C9-054B07E5CBF1}" dt="2026-06-11T16:33:44.925" v="376" actId="20577"/>
      <pc:docMkLst>
        <pc:docMk/>
      </pc:docMkLst>
      <pc:sldChg chg="modSp modAnim">
        <pc:chgData name="Breno Silva" userId="c065c6085e3e68de" providerId="LiveId" clId="{E12F296E-1854-4384-B1C9-054B07E5CBF1}" dt="2026-06-11T16:22:04.466" v="316" actId="20577"/>
        <pc:sldMkLst>
          <pc:docMk/>
          <pc:sldMk cId="4278600565" sldId="339"/>
        </pc:sldMkLst>
        <pc:spChg chg="mod">
          <ac:chgData name="Breno Silva" userId="c065c6085e3e68de" providerId="LiveId" clId="{E12F296E-1854-4384-B1C9-054B07E5CBF1}" dt="2026-06-11T16:22:04.466" v="316" actId="20577"/>
          <ac:spMkLst>
            <pc:docMk/>
            <pc:sldMk cId="4278600565" sldId="339"/>
            <ac:spMk id="25" creationId="{CFB1B26F-442F-09FF-5998-2FF1CF86250C}"/>
          </ac:spMkLst>
        </pc:spChg>
        <pc:spChg chg="mod">
          <ac:chgData name="Breno Silva" userId="c065c6085e3e68de" providerId="LiveId" clId="{E12F296E-1854-4384-B1C9-054B07E5CBF1}" dt="2026-06-11T16:20:51.756" v="298" actId="20577"/>
          <ac:spMkLst>
            <pc:docMk/>
            <pc:sldMk cId="4278600565" sldId="339"/>
            <ac:spMk id="26" creationId="{A859C848-5FC4-5D0D-F41F-B1F593584835}"/>
          </ac:spMkLst>
        </pc:spChg>
        <pc:spChg chg="mod">
          <ac:chgData name="Breno Silva" userId="c065c6085e3e68de" providerId="LiveId" clId="{E12F296E-1854-4384-B1C9-054B07E5CBF1}" dt="2026-06-11T16:20:59.739" v="302" actId="20577"/>
          <ac:spMkLst>
            <pc:docMk/>
            <pc:sldMk cId="4278600565" sldId="339"/>
            <ac:spMk id="27" creationId="{B9C83C56-BC1C-3CF0-6C80-CA4E5930A0C0}"/>
          </ac:spMkLst>
        </pc:spChg>
        <pc:spChg chg="mod">
          <ac:chgData name="Breno Silva" userId="c065c6085e3e68de" providerId="LiveId" clId="{E12F296E-1854-4384-B1C9-054B07E5CBF1}" dt="2026-06-11T16:21:07.324" v="308" actId="20577"/>
          <ac:spMkLst>
            <pc:docMk/>
            <pc:sldMk cId="4278600565" sldId="339"/>
            <ac:spMk id="28" creationId="{0FF6100E-8A2F-3C08-65D1-A2F56BEE829C}"/>
          </ac:spMkLst>
        </pc:spChg>
      </pc:sldChg>
      <pc:sldChg chg="addSp delSp modSp mod delAnim modAnim">
        <pc:chgData name="Breno Silva" userId="c065c6085e3e68de" providerId="LiveId" clId="{E12F296E-1854-4384-B1C9-054B07E5CBF1}" dt="2026-06-11T16:13:34.655" v="296" actId="1076"/>
        <pc:sldMkLst>
          <pc:docMk/>
          <pc:sldMk cId="2187716279" sldId="340"/>
        </pc:sldMkLst>
        <pc:spChg chg="mod">
          <ac:chgData name="Breno Silva" userId="c065c6085e3e68de" providerId="LiveId" clId="{E12F296E-1854-4384-B1C9-054B07E5CBF1}" dt="2026-06-11T16:07:41.742" v="24" actId="1037"/>
          <ac:spMkLst>
            <pc:docMk/>
            <pc:sldMk cId="2187716279" sldId="340"/>
            <ac:spMk id="6" creationId="{FECAA5FA-92DC-0D31-EF0B-2DC1FC4C8BEB}"/>
          </ac:spMkLst>
        </pc:spChg>
        <pc:spChg chg="mod">
          <ac:chgData name="Breno Silva" userId="c065c6085e3e68de" providerId="LiveId" clId="{E12F296E-1854-4384-B1C9-054B07E5CBF1}" dt="2026-06-11T16:07:41.742" v="24" actId="1037"/>
          <ac:spMkLst>
            <pc:docMk/>
            <pc:sldMk cId="2187716279" sldId="340"/>
            <ac:spMk id="10" creationId="{4770DEEE-01AB-F844-8D95-BF64B724CB20}"/>
          </ac:spMkLst>
        </pc:spChg>
        <pc:spChg chg="mod ord">
          <ac:chgData name="Breno Silva" userId="c065c6085e3e68de" providerId="LiveId" clId="{E12F296E-1854-4384-B1C9-054B07E5CBF1}" dt="2026-06-11T16:07:55.817" v="26" actId="14100"/>
          <ac:spMkLst>
            <pc:docMk/>
            <pc:sldMk cId="2187716279" sldId="340"/>
            <ac:spMk id="11" creationId="{87C599E2-DBF0-ECCA-2AF4-FB1DE6E6E998}"/>
          </ac:spMkLst>
        </pc:spChg>
        <pc:spChg chg="mod ord">
          <ac:chgData name="Breno Silva" userId="c065c6085e3e68de" providerId="LiveId" clId="{E12F296E-1854-4384-B1C9-054B07E5CBF1}" dt="2026-06-11T16:08:04.405" v="41" actId="313"/>
          <ac:spMkLst>
            <pc:docMk/>
            <pc:sldMk cId="2187716279" sldId="340"/>
            <ac:spMk id="12" creationId="{290EBE61-B79A-C0F9-F3A0-080321051346}"/>
          </ac:spMkLst>
        </pc:spChg>
        <pc:picChg chg="del mod modCrop">
          <ac:chgData name="Breno Silva" userId="c065c6085e3e68de" providerId="LiveId" clId="{E12F296E-1854-4384-B1C9-054B07E5CBF1}" dt="2026-06-11T16:12:58.880" v="287" actId="478"/>
          <ac:picMkLst>
            <pc:docMk/>
            <pc:sldMk cId="2187716279" sldId="340"/>
            <ac:picMk id="2" creationId="{96C357D5-99A8-FF60-875C-212ACBB716A5}"/>
          </ac:picMkLst>
        </pc:picChg>
        <pc:picChg chg="add mod modCrop">
          <ac:chgData name="Breno Silva" userId="c065c6085e3e68de" providerId="LiveId" clId="{E12F296E-1854-4384-B1C9-054B07E5CBF1}" dt="2026-06-11T16:13:34.655" v="296" actId="1076"/>
          <ac:picMkLst>
            <pc:docMk/>
            <pc:sldMk cId="2187716279" sldId="340"/>
            <ac:picMk id="4" creationId="{D124B87A-9380-A59D-9846-61900E8CBDEB}"/>
          </ac:picMkLst>
        </pc:picChg>
      </pc:sldChg>
      <pc:sldChg chg="modSp mod">
        <pc:chgData name="Breno Silva" userId="c065c6085e3e68de" providerId="LiveId" clId="{E12F296E-1854-4384-B1C9-054B07E5CBF1}" dt="2026-06-11T16:32:27.237" v="357" actId="20577"/>
        <pc:sldMkLst>
          <pc:docMk/>
          <pc:sldMk cId="2687430840" sldId="341"/>
        </pc:sldMkLst>
        <pc:spChg chg="mod">
          <ac:chgData name="Breno Silva" userId="c065c6085e3e68de" providerId="LiveId" clId="{E12F296E-1854-4384-B1C9-054B07E5CBF1}" dt="2026-06-11T16:32:27.237" v="357" actId="20577"/>
          <ac:spMkLst>
            <pc:docMk/>
            <pc:sldMk cId="2687430840" sldId="341"/>
            <ac:spMk id="11" creationId="{4D579429-E07A-C014-A2BF-BEE4A125B8AE}"/>
          </ac:spMkLst>
        </pc:spChg>
      </pc:sldChg>
      <pc:sldChg chg="modSp mod">
        <pc:chgData name="Breno Silva" userId="c065c6085e3e68de" providerId="LiveId" clId="{E12F296E-1854-4384-B1C9-054B07E5CBF1}" dt="2026-06-11T16:28:10.725" v="318" actId="20577"/>
        <pc:sldMkLst>
          <pc:docMk/>
          <pc:sldMk cId="4268941486" sldId="342"/>
        </pc:sldMkLst>
        <pc:spChg chg="mod">
          <ac:chgData name="Breno Silva" userId="c065c6085e3e68de" providerId="LiveId" clId="{E12F296E-1854-4384-B1C9-054B07E5CBF1}" dt="2026-06-11T16:28:10.725" v="318" actId="20577"/>
          <ac:spMkLst>
            <pc:docMk/>
            <pc:sldMk cId="4268941486" sldId="342"/>
            <ac:spMk id="2" creationId="{9CC340DF-30FE-4A05-0246-E743BF6A629D}"/>
          </ac:spMkLst>
        </pc:spChg>
      </pc:sldChg>
      <pc:sldChg chg="modSp mod">
        <pc:chgData name="Breno Silva" userId="c065c6085e3e68de" providerId="LiveId" clId="{E12F296E-1854-4384-B1C9-054B07E5CBF1}" dt="2026-06-11T16:30:17.746" v="349" actId="20577"/>
        <pc:sldMkLst>
          <pc:docMk/>
          <pc:sldMk cId="4117392702" sldId="344"/>
        </pc:sldMkLst>
        <pc:spChg chg="mod">
          <ac:chgData name="Breno Silva" userId="c065c6085e3e68de" providerId="LiveId" clId="{E12F296E-1854-4384-B1C9-054B07E5CBF1}" dt="2026-06-11T16:30:17.746" v="349" actId="20577"/>
          <ac:spMkLst>
            <pc:docMk/>
            <pc:sldMk cId="4117392702" sldId="344"/>
            <ac:spMk id="6" creationId="{14EB3183-6268-0CF1-74F1-862769F68A25}"/>
          </ac:spMkLst>
        </pc:spChg>
      </pc:sldChg>
      <pc:sldChg chg="modSp mod">
        <pc:chgData name="Breno Silva" userId="c065c6085e3e68de" providerId="LiveId" clId="{E12F296E-1854-4384-B1C9-054B07E5CBF1}" dt="2026-06-11T16:33:44.925" v="376" actId="20577"/>
        <pc:sldMkLst>
          <pc:docMk/>
          <pc:sldMk cId="3906102564" sldId="345"/>
        </pc:sldMkLst>
        <pc:spChg chg="mod">
          <ac:chgData name="Breno Silva" userId="c065c6085e3e68de" providerId="LiveId" clId="{E12F296E-1854-4384-B1C9-054B07E5CBF1}" dt="2026-06-11T16:28:20.330" v="326" actId="20577"/>
          <ac:spMkLst>
            <pc:docMk/>
            <pc:sldMk cId="3906102564" sldId="345"/>
            <ac:spMk id="7" creationId="{EF818EA0-65CC-C26D-9C97-1708E05C66CF}"/>
          </ac:spMkLst>
        </pc:spChg>
        <pc:spChg chg="mod">
          <ac:chgData name="Breno Silva" userId="c065c6085e3e68de" providerId="LiveId" clId="{E12F296E-1854-4384-B1C9-054B07E5CBF1}" dt="2026-06-11T16:33:44.925" v="376" actId="20577"/>
          <ac:spMkLst>
            <pc:docMk/>
            <pc:sldMk cId="3906102564" sldId="345"/>
            <ac:spMk id="10" creationId="{EE25537A-9563-F997-9016-CC7960F8D1CB}"/>
          </ac:spMkLst>
        </pc:spChg>
      </pc:sldChg>
      <pc:sldChg chg="modSp mod">
        <pc:chgData name="Breno Silva" userId="c065c6085e3e68de" providerId="LiveId" clId="{E12F296E-1854-4384-B1C9-054B07E5CBF1}" dt="2026-06-11T16:11:23.701" v="283" actId="20577"/>
        <pc:sldMkLst>
          <pc:docMk/>
          <pc:sldMk cId="2266178257" sldId="354"/>
        </pc:sldMkLst>
        <pc:spChg chg="mod">
          <ac:chgData name="Breno Silva" userId="c065c6085e3e68de" providerId="LiveId" clId="{E12F296E-1854-4384-B1C9-054B07E5CBF1}" dt="2026-06-11T16:11:23.701" v="283" actId="20577"/>
          <ac:spMkLst>
            <pc:docMk/>
            <pc:sldMk cId="2266178257" sldId="354"/>
            <ac:spMk id="23" creationId="{54968682-0E2F-3D32-4901-937E456B5F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67C47-2838-4CA3-9C8E-1307A3F7986A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5B364-B1F4-486B-9CE8-2ADBE9897E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42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33" name="Google Shape;33;g39695dd3e5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9571DF-E021-80AD-AA70-7871F28E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266AC65-059D-0A7E-3012-1601F1A4AC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7CEF9E4-9740-7F59-888C-AAADDC960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9233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A8ED50A-93E8-F687-11A8-CD2C4350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5BEE2DF-3E52-D0FA-DC9D-4BB260D1D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0332741-E4B0-117E-5C8E-15177B436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045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CF862CC-0C9B-1631-C302-19EEA3D1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94ED5FF9-C03A-93C6-2CFE-C240E795F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F9B7E8FB-D7D4-F15D-5B05-6D84A0775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5582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8990A8-4224-FE3E-760F-7020C979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45FFB7E7-34FD-C2EA-A38D-6EF99E19B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90197146-E438-E630-419E-57167F34D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142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3A6F665-DDE6-CFDC-9D96-F7675544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2D65DC9-5B52-92CC-E0DB-06FBAE86F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81E9B6C6-73A3-DD18-127E-5897AA13A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5903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7BCDB86-8C93-868B-B0A9-9FFBDFF5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B47208E5-FA87-5961-226E-1847F9CE3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04CCEDA-4A87-E0FD-4FF4-E9E67191F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9211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5F0575A-69BF-9177-2124-D9E1BE23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5BEE930-0FA7-EAAC-BE3E-1BD71BB3E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049F80F5-CEB6-E892-DD2F-4435338DC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1424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FE2114C-053B-37DA-54EE-ED378DA2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609A030-F72F-4EB2-8BA9-167245C97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E43230C-4C38-075D-B9CE-A0C2C12A6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567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697FE69-BA04-02F8-89F1-EDBF1A06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BD0B4E2-084D-F69F-8924-1153538B4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09B9F469-CB7D-1EBB-3BDE-60FDE0B8B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6968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9759926-34B5-4D90-6DE6-82730F4D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663D16A0-5CE2-EF71-32C4-0B37A2FA1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1F74463-5998-7869-003B-96A62865A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8587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96492E0-F0B2-E0AF-50DD-E54A773E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71ABFC2-9395-1ED0-1BCF-73D6EAC49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62E8558-1F8B-CAB7-AB8E-5DAA2F923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3868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9576CEE-F185-542F-1893-C290326B4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2FA94665-9E35-FCDA-D687-68525C339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6CBA2625-0522-2F17-5B6C-8EDA72686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3112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>
          <a:extLst>
            <a:ext uri="{FF2B5EF4-FFF2-40B4-BE49-F238E27FC236}">
              <a16:creationId xmlns:a16="http://schemas.microsoft.com/office/drawing/2014/main" id="{2592838A-BCA9-C802-768A-618625EC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>
            <a:extLst>
              <a:ext uri="{FF2B5EF4-FFF2-40B4-BE49-F238E27FC236}">
                <a16:creationId xmlns:a16="http://schemas.microsoft.com/office/drawing/2014/main" id="{680EB454-1AC2-FCB7-67FB-52E0DB97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>
            <a:extLst>
              <a:ext uri="{FF2B5EF4-FFF2-40B4-BE49-F238E27FC236}">
                <a16:creationId xmlns:a16="http://schemas.microsoft.com/office/drawing/2014/main" id="{47705A17-3D14-F5AE-D0DF-778CB7F91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g39695dd3e52_0_21:notes">
            <a:extLst>
              <a:ext uri="{FF2B5EF4-FFF2-40B4-BE49-F238E27FC236}">
                <a16:creationId xmlns:a16="http://schemas.microsoft.com/office/drawing/2014/main" id="{6020BFE8-9CF4-5133-7E9A-EAECCDAADE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2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4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9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81B075-AB75-D145-BDC3-C6F54BCBBF93}"/>
              </a:ext>
            </a:extLst>
          </p:cNvPr>
          <p:cNvSpPr/>
          <p:nvPr/>
        </p:nvSpPr>
        <p:spPr>
          <a:xfrm>
            <a:off x="775063" y="1741715"/>
            <a:ext cx="5319414" cy="4519748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64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0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5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2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66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4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BD419854-2407-4A90-B8AA-05EBE910862A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11/06/2026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3569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749C-2957-4EA2-823B-88F9FA922164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11/06/2026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4701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37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 type="obj">
  <p:cSld name="1_Título e conteúd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610600" y="6356349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38200" y="635639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3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28" y="367999"/>
            <a:ext cx="1216572" cy="13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5"/>
        </a:buBlip>
        <a:defRPr sz="2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4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0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2FDF9-3C59-462F-92FA-FBEEAE4E9463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11/06/2026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035" y="1178612"/>
            <a:ext cx="6069011" cy="60690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7373369-6457-47B7-BA3E-401B3A7E9069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6C8731B-3DE4-4481-82D5-B9C33540C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3964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 fontScale="90000"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/>
            </a:br>
            <a:r>
              <a:rPr lang="en-US" sz="5850" noProof="0">
                <a:solidFill>
                  <a:schemeClr val="accent6"/>
                </a:solidFill>
              </a:rPr>
              <a:t>Digital Signal Processing</a:t>
            </a:r>
            <a:br>
              <a:rPr lang="en-US" sz="5850" noProof="0"/>
            </a:br>
            <a:br>
              <a:rPr lang="en-US" sz="4800" noProof="0"/>
            </a:br>
            <a:r>
              <a:rPr lang="en-US" sz="4800" noProof="0">
                <a:solidFill>
                  <a:schemeClr val="accent6"/>
                </a:solidFill>
              </a:rPr>
              <a:t>Digital Filters</a:t>
            </a:r>
            <a:br>
              <a:rPr lang="en-US" sz="4800" noProof="0"/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</a:t>
            </a:r>
            <a:br>
              <a:rPr lang="en-US" sz="2800" b="1" noProof="0"/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/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27533F3-2AFF-2837-B40F-2C09B0F1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5209EDED-FC2E-FC14-8CF6-6C8754A51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Discussion on Filters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93A835F0-3325-9AC6-43CB-BA429C13F2B0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Quick Discussion About Filters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4927573A-0848-0122-FF31-9FB14C9BC8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2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6" name="Picture 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305959AC-6385-4300-8868-BA6D697A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11" t="9091" r="290"/>
          <a:stretch>
            <a:fillRect/>
          </a:stretch>
        </p:blipFill>
        <p:spPr>
          <a:xfrm>
            <a:off x="6049841" y="2145012"/>
            <a:ext cx="5913595" cy="24234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38C0A9-2A1E-117A-B96F-66F710BF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1" y="1098467"/>
            <a:ext cx="5692554" cy="4522520"/>
          </a:xfrm>
          <a:prstGeom prst="rect">
            <a:avLst/>
          </a:prstGeom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D0046EE-2CA2-539A-034D-F90D9541E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5" y="5687914"/>
            <a:ext cx="8461169" cy="10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8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04363FF-EA1B-4080-0E1D-FD88BF1C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C0D16E9A-2C44-9A8F-5FDC-C69A6B3F1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Linear Phase Filters 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1E99D519-FB10-2C6B-CC7C-0DFED9454D52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Importance of Linear Phase (or Constant Group Delay)</a:t>
            </a:r>
            <a:endParaRPr lang="en-US" sz="1600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206FA2EA-D98D-CA11-62B0-2CCB112208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3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D895F96-B054-5405-969F-584EAF77E608}"/>
              </a:ext>
            </a:extLst>
          </p:cNvPr>
          <p:cNvSpPr/>
          <p:nvPr/>
        </p:nvSpPr>
        <p:spPr>
          <a:xfrm>
            <a:off x="144840" y="1547405"/>
            <a:ext cx="3569910" cy="231022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The response delay to a complex exponential is the derivative of the phase of the frequency response to that exponential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647548DC-DFD6-6ABC-7C30-F86DC35436F3}"/>
                  </a:ext>
                </a:extLst>
              </p:cNvPr>
              <p:cNvSpPr/>
              <p:nvPr/>
            </p:nvSpPr>
            <p:spPr>
              <a:xfrm>
                <a:off x="443784" y="3983731"/>
                <a:ext cx="2972022" cy="1649000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den>
                      </m:f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m:oMathPara>
                </a14:m>
                <a:endParaRPr lang="en-US" sz="2000" b="1" noProof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000" b="1" i="0" noProof="0" smtClean="0">
                              <a:latin typeface="Cambria Math" panose="02040503050406030204" pitchFamily="18" charset="0"/>
                            </a:rPr>
                            <m:t>𝛀</m:t>
                          </m:r>
                        </m:den>
                      </m:f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647548DC-DFD6-6ABC-7C30-F86DC3543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4" y="3983731"/>
                <a:ext cx="2972022" cy="1649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35A096F-B90C-1C92-C319-C81CBC538EB5}"/>
              </a:ext>
            </a:extLst>
          </p:cNvPr>
          <p:cNvSpPr/>
          <p:nvPr/>
        </p:nvSpPr>
        <p:spPr>
          <a:xfrm>
            <a:off x="3714750" y="5653577"/>
            <a:ext cx="3823695" cy="1102829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A symmetric FIR filter has constant group delay</a:t>
            </a:r>
          </a:p>
        </p:txBody>
      </p:sp>
      <p:pic>
        <p:nvPicPr>
          <p:cNvPr id="5" name="Imagem 4" descr="PIC">
            <a:extLst>
              <a:ext uri="{FF2B5EF4-FFF2-40B4-BE49-F238E27FC236}">
                <a16:creationId xmlns:a16="http://schemas.microsoft.com/office/drawing/2014/main" id="{4FB7AF79-736E-76D6-057C-E5DECF871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098" y="1765874"/>
            <a:ext cx="3674532" cy="3326251"/>
          </a:xfrm>
          <a:prstGeom prst="rect">
            <a:avLst/>
          </a:prstGeom>
        </p:spPr>
      </p:pic>
      <p:pic>
        <p:nvPicPr>
          <p:cNvPr id="10" name="Imagem 9" descr="PIC">
            <a:extLst>
              <a:ext uri="{FF2B5EF4-FFF2-40B4-BE49-F238E27FC236}">
                <a16:creationId xmlns:a16="http://schemas.microsoft.com/office/drawing/2014/main" id="{AC77D3FD-7C48-F55A-3A3E-A5CD7B5CEE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05"/>
          <a:stretch>
            <a:fillRect/>
          </a:stretch>
        </p:blipFill>
        <p:spPr>
          <a:xfrm>
            <a:off x="8072588" y="731702"/>
            <a:ext cx="4103757" cy="4993836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79E9BB6-2BEA-2421-53DE-2B51CF1B1EF7}"/>
              </a:ext>
            </a:extLst>
          </p:cNvPr>
          <p:cNvSpPr/>
          <p:nvPr/>
        </p:nvSpPr>
        <p:spPr>
          <a:xfrm>
            <a:off x="7958288" y="5653577"/>
            <a:ext cx="4103757" cy="10738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Analog filters may get close to but can’t achieve linear phase</a:t>
            </a:r>
          </a:p>
        </p:txBody>
      </p:sp>
    </p:spTree>
    <p:extLst>
      <p:ext uri="{BB962C8B-B14F-4D97-AF65-F5344CB8AC3E}">
        <p14:creationId xmlns:p14="http://schemas.microsoft.com/office/powerpoint/2010/main" val="288934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EC56D66-7A68-5565-233C-CACB8D54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DAE93111-6B02-43B2-F445-B2F39121B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84289"/>
            <a:ext cx="4223887" cy="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Analog x Digital Filters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8C373F9F-4848-7922-93FB-E77D0C749693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ea typeface="+mn-lt"/>
                <a:cs typeface="+mn-lt"/>
                <a:sym typeface="Calibri"/>
              </a:rPr>
              <a:t>Introduction to Digital Filters</a:t>
            </a:r>
            <a:endParaRPr lang="en-US" b="1" noProof="0">
              <a:solidFill>
                <a:schemeClr val="lt1"/>
              </a:solidFill>
              <a:cs typeface="Arial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B7222E28-B62A-CB1B-B73D-86F2E1C5DD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4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4" name="Imagem 3" descr="https://5.imimg.com/data5/SELLER/Default/2024/3/397875074/LG/BS/GD/183714315/26-1000x1000.jpg">
            <a:extLst>
              <a:ext uri="{FF2B5EF4-FFF2-40B4-BE49-F238E27FC236}">
                <a16:creationId xmlns:a16="http://schemas.microsoft.com/office/drawing/2014/main" id="{0F6E5989-1AFC-24EA-9594-F23AE9010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1" y="4307947"/>
            <a:ext cx="3179233" cy="2382308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4EB3183-6268-0CF1-74F1-862769F68A25}"/>
              </a:ext>
            </a:extLst>
          </p:cNvPr>
          <p:cNvSpPr/>
          <p:nvPr/>
        </p:nvSpPr>
        <p:spPr>
          <a:xfrm>
            <a:off x="268915" y="1285876"/>
            <a:ext cx="4227942" cy="141253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Analog filters can be built using discrete components such as resistor, capacitors, inductors </a:t>
            </a:r>
            <a:r>
              <a:rPr lang="en-US" sz="2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and op-amps </a:t>
            </a:r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or using ICs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4E5E460-7170-5A0C-17AE-5C223760EE65}"/>
              </a:ext>
            </a:extLst>
          </p:cNvPr>
          <p:cNvSpPr/>
          <p:nvPr/>
        </p:nvSpPr>
        <p:spPr>
          <a:xfrm>
            <a:off x="268915" y="2835275"/>
            <a:ext cx="4227942" cy="141253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>
                <a:solidFill>
                  <a:schemeClr val="bg1"/>
                </a:solidFill>
                <a:ea typeface="+mn-lt"/>
                <a:cs typeface="+mn-lt"/>
              </a:rPr>
              <a:t>Classical Filter Families</a:t>
            </a:r>
            <a:r>
              <a:rPr lang="en-US" sz="2200" b="1" noProof="0">
                <a:solidFill>
                  <a:schemeClr val="bg1"/>
                </a:solidFill>
                <a:ea typeface="+mn-lt"/>
                <a:cs typeface="+mn-lt"/>
              </a:rPr>
              <a:t>:</a:t>
            </a:r>
            <a:r>
              <a:rPr lang="en-US" sz="2200" b="1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n-US" b="1" noProof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200" b="1" noProof="0">
                <a:solidFill>
                  <a:schemeClr val="bg1"/>
                </a:solidFill>
                <a:ea typeface="+mn-lt"/>
                <a:cs typeface="+mn-lt"/>
              </a:rPr>
              <a:t>Butterworth, Chebyshev, Bessel and </a:t>
            </a:r>
            <a:r>
              <a:rPr lang="en-US" sz="2200" b="1" noProof="0" err="1">
                <a:solidFill>
                  <a:schemeClr val="bg1"/>
                </a:solidFill>
                <a:ea typeface="+mn-lt"/>
                <a:cs typeface="+mn-lt"/>
              </a:rPr>
              <a:t>Cauer</a:t>
            </a:r>
            <a:r>
              <a:rPr lang="en-US" sz="2200" b="1" noProof="0">
                <a:solidFill>
                  <a:schemeClr val="bg1"/>
                </a:solidFill>
                <a:ea typeface="+mn-lt"/>
                <a:cs typeface="+mn-lt"/>
              </a:rPr>
              <a:t> (or elliptic)</a:t>
            </a:r>
            <a:endParaRPr lang="en-US" b="1" noProof="0">
              <a:solidFill>
                <a:schemeClr val="bg1"/>
              </a:solidFill>
              <a:cs typeface="Arial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968B86-88B1-5DEF-EC8F-9A4CB909BFF1}"/>
              </a:ext>
            </a:extLst>
          </p:cNvPr>
          <p:cNvSpPr/>
          <p:nvPr/>
        </p:nvSpPr>
        <p:spPr>
          <a:xfrm>
            <a:off x="6754382" y="4579409"/>
            <a:ext cx="3355876" cy="62513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Digital filters extra steps:</a:t>
            </a:r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52A424EC-3E51-1531-5BD3-96B86FDDA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17" y="5296959"/>
            <a:ext cx="5719234" cy="1056217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19298D-9A22-E493-C45A-7DD22992DDD9}"/>
              </a:ext>
            </a:extLst>
          </p:cNvPr>
          <p:cNvSpPr/>
          <p:nvPr/>
        </p:nvSpPr>
        <p:spPr>
          <a:xfrm>
            <a:off x="5433582" y="6044142"/>
            <a:ext cx="1738743" cy="506600"/>
          </a:xfrm>
          <a:prstGeom prst="round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Anti-aliasing</a:t>
            </a:r>
            <a:endParaRPr lang="en-US" noProof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D45BACA-FCA8-AA58-526D-1180DC770D08}"/>
              </a:ext>
            </a:extLst>
          </p:cNvPr>
          <p:cNvSpPr/>
          <p:nvPr/>
        </p:nvSpPr>
        <p:spPr>
          <a:xfrm>
            <a:off x="9785448" y="6044142"/>
            <a:ext cx="2018142" cy="506600"/>
          </a:xfrm>
          <a:prstGeom prst="round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Reconstruction</a:t>
            </a:r>
            <a:endParaRPr lang="en-US" noProof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FBAB97A-F96E-3046-20B5-D90DFA50FF18}"/>
              </a:ext>
            </a:extLst>
          </p:cNvPr>
          <p:cNvSpPr/>
          <p:nvPr/>
        </p:nvSpPr>
        <p:spPr>
          <a:xfrm>
            <a:off x="5328354" y="625255"/>
            <a:ext cx="6419598" cy="74388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>
                <a:solidFill>
                  <a:schemeClr val="bg1"/>
                </a:solidFill>
                <a:ea typeface="+mn-lt"/>
                <a:cs typeface="+mn-lt"/>
              </a:rPr>
              <a:t>Analog prototypes can be converted into digital filters.</a:t>
            </a:r>
            <a:r>
              <a:rPr lang="en-US" sz="2200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 In </a:t>
            </a:r>
            <a:r>
              <a:rPr lang="en-US" sz="2200" b="1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Matlab</a:t>
            </a:r>
            <a:r>
              <a:rPr lang="en-US" sz="2200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:</a:t>
            </a:r>
            <a:endParaRPr lang="en-US" sz="2200" b="1" noProof="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6" name="Imagem 15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DC39CA37-CD87-EADC-722D-40CCB3AF09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4" t="16667" r="70" b="26389"/>
          <a:stretch>
            <a:fillRect/>
          </a:stretch>
        </p:blipFill>
        <p:spPr>
          <a:xfrm>
            <a:off x="6292139" y="1486416"/>
            <a:ext cx="4488490" cy="347137"/>
          </a:xfrm>
          <a:prstGeom prst="rect">
            <a:avLst/>
          </a:prstGeom>
          <a:ln>
            <a:solidFill>
              <a:schemeClr val="tx2">
                <a:lumMod val="10000"/>
              </a:schemeClr>
            </a:solidFill>
          </a:ln>
        </p:spPr>
      </p:pic>
      <p:pic>
        <p:nvPicPr>
          <p:cNvPr id="17" name="Imagem 16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849179CA-0ED6-3B33-CC49-0B9D85FFE6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822" y="1964796"/>
            <a:ext cx="6651625" cy="913342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F353362-9819-9BC2-C55C-4AFA075F5701}"/>
              </a:ext>
            </a:extLst>
          </p:cNvPr>
          <p:cNvSpPr/>
          <p:nvPr/>
        </p:nvSpPr>
        <p:spPr>
          <a:xfrm>
            <a:off x="5848448" y="2970742"/>
            <a:ext cx="5895876" cy="141253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If H(z) is a rational functional, it can be implemented using a LCCDE (</a:t>
            </a:r>
            <a:r>
              <a:rPr lang="en-US" sz="2200" b="1" noProof="0">
                <a:solidFill>
                  <a:schemeClr val="bg1"/>
                </a:solidFill>
                <a:ea typeface="+mn-lt"/>
                <a:cs typeface="+mn-lt"/>
              </a:rPr>
              <a:t>Linear Constant-Coefficient Difference Equation)</a:t>
            </a:r>
            <a:endParaRPr lang="en-US" sz="2200" b="1" noProof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739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8CC4C89-85F6-ABA2-7C2B-B5EB7894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06D32DD5-5241-5545-4335-0452914F7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84289"/>
            <a:ext cx="4223887" cy="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LCCDE digital filters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FF3919A9-8E49-4DF3-A393-A7121776BA7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ea typeface="+mn-lt"/>
                <a:cs typeface="+mn-lt"/>
                <a:sym typeface="Calibri"/>
              </a:rPr>
              <a:t>Introduction to Digital Filters</a:t>
            </a:r>
            <a:endParaRPr lang="en-US" b="1" noProof="0">
              <a:solidFill>
                <a:schemeClr val="lt1"/>
              </a:solidFill>
              <a:cs typeface="Arial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92996949-2D49-9987-F659-A9310E4F89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5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C1E1DD1-65D1-4075-FC39-41FDBFE19FAD}"/>
              </a:ext>
            </a:extLst>
          </p:cNvPr>
          <p:cNvSpPr/>
          <p:nvPr/>
        </p:nvSpPr>
        <p:spPr>
          <a:xfrm>
            <a:off x="607582" y="1345141"/>
            <a:ext cx="4024742" cy="118393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If a system has the output and input signals related by a LCCDE such as: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5CE9FE5-60C3-BCE5-02BF-9668F908C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63" y="2646892"/>
            <a:ext cx="4638675" cy="127635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9A2CFCD-9866-9097-BB5E-5E6F0A6E0100}"/>
              </a:ext>
            </a:extLst>
          </p:cNvPr>
          <p:cNvSpPr/>
          <p:nvPr/>
        </p:nvSpPr>
        <p:spPr>
          <a:xfrm>
            <a:off x="1157915" y="4105274"/>
            <a:ext cx="3076476" cy="58280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Taking the Z-transform:</a:t>
            </a:r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19" name="Imagem 18" descr="Uma imagem contendo Esquemático&#10;&#10;O conteúdo gerado por IA pode estar incorreto.">
            <a:extLst>
              <a:ext uri="{FF2B5EF4-FFF2-40B4-BE49-F238E27FC236}">
                <a16:creationId xmlns:a16="http://schemas.microsoft.com/office/drawing/2014/main" id="{E020D5E6-537E-69BB-1898-071997E53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63" y="4993746"/>
            <a:ext cx="4791075" cy="1171575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C95F5EE-D804-6A17-9FAD-17343CC41356}"/>
              </a:ext>
            </a:extLst>
          </p:cNvPr>
          <p:cNvSpPr/>
          <p:nvPr/>
        </p:nvSpPr>
        <p:spPr>
          <a:xfrm>
            <a:off x="7965115" y="1285874"/>
            <a:ext cx="3076476" cy="74366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 result transfer function is:</a:t>
            </a:r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21" name="Imagem 20" descr="Texto&#10;&#10;O conteúdo gerado por IA pode estar incorreto.">
            <a:extLst>
              <a:ext uri="{FF2B5EF4-FFF2-40B4-BE49-F238E27FC236}">
                <a16:creationId xmlns:a16="http://schemas.microsoft.com/office/drawing/2014/main" id="{0BEE8C86-FC2F-EC2C-4931-B27A5056A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12" y="2212446"/>
            <a:ext cx="4295775" cy="1095375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CFF965-F2AA-BDFD-9A76-6F877D61173F}"/>
              </a:ext>
            </a:extLst>
          </p:cNvPr>
          <p:cNvSpPr/>
          <p:nvPr/>
        </p:nvSpPr>
        <p:spPr>
          <a:xfrm>
            <a:off x="7948181" y="3851274"/>
            <a:ext cx="3279676" cy="84526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Using algebra we can reach the final equation:</a:t>
            </a:r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AC356444-80EC-0391-DE72-EBEDAE019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308" y="4923897"/>
            <a:ext cx="3448050" cy="1057275"/>
          </a:xfrm>
          <a:prstGeom prst="rect">
            <a:avLst/>
          </a:prstGeom>
        </p:spPr>
      </p:pic>
      <p:pic>
        <p:nvPicPr>
          <p:cNvPr id="24" name="Imagem 23" descr="Texto&#10;&#10;O conteúdo gerado por IA pode estar incorreto.">
            <a:extLst>
              <a:ext uri="{FF2B5EF4-FFF2-40B4-BE49-F238E27FC236}">
                <a16:creationId xmlns:a16="http://schemas.microsoft.com/office/drawing/2014/main" id="{3D9FCF6B-2CCA-96B6-6871-15777D6DEF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1883" y="4961997"/>
            <a:ext cx="1257300" cy="981075"/>
          </a:xfrm>
          <a:prstGeom prst="rect">
            <a:avLst/>
          </a:prstGeom>
        </p:spPr>
      </p:pic>
      <p:pic>
        <p:nvPicPr>
          <p:cNvPr id="2" name="Imagem 1" descr="Forma">
            <a:extLst>
              <a:ext uri="{FF2B5EF4-FFF2-40B4-BE49-F238E27FC236}">
                <a16:creationId xmlns:a16="http://schemas.microsoft.com/office/drawing/2014/main" id="{035BAFBF-2439-DC76-4577-3B4E47B8F5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039" y="0"/>
            <a:ext cx="6502401" cy="73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2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9A04418-35C2-7B53-0726-49D265C7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28E98884-5E88-470A-47E7-B3C262F61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84289"/>
            <a:ext cx="12191019" cy="108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Example: Obtaining the difference equation and implementing a digital filter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B913DAA2-65F6-D850-17C1-E05C42DAA035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ea typeface="+mn-lt"/>
                <a:cs typeface="+mn-lt"/>
                <a:sym typeface="Calibri"/>
              </a:rPr>
              <a:t>Introduction to Digital Filters</a:t>
            </a:r>
            <a:endParaRPr lang="en-US" b="1" noProof="0">
              <a:solidFill>
                <a:schemeClr val="lt1"/>
              </a:solidFill>
              <a:cs typeface="Arial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DE4ACDFF-B368-171B-F1F9-8CD846A4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6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5" name="Imagem 4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E6AAF7F3-7828-237B-3E90-511D42643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55" y="1609195"/>
            <a:ext cx="7303558" cy="10064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A66975A-A28E-2F6E-AA85-BE48F01C5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2254250"/>
            <a:ext cx="2929466" cy="478366"/>
          </a:xfrm>
          <a:prstGeom prst="rect">
            <a:avLst/>
          </a:prstGeom>
        </p:spPr>
      </p:pic>
      <p:pic>
        <p:nvPicPr>
          <p:cNvPr id="7" name="Imagem 6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E6D6F443-C0D1-EC9B-E55C-B3FD72121E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02" t="2307" b="5592"/>
          <a:stretch>
            <a:fillRect/>
          </a:stretch>
        </p:blipFill>
        <p:spPr>
          <a:xfrm>
            <a:off x="1554604" y="2608701"/>
            <a:ext cx="5848956" cy="815856"/>
          </a:xfrm>
          <a:prstGeom prst="rect">
            <a:avLst/>
          </a:prstGeom>
        </p:spPr>
      </p:pic>
      <p:sp>
        <p:nvSpPr>
          <p:cNvPr id="8" name="Seta: Divisa 7">
            <a:extLst>
              <a:ext uri="{FF2B5EF4-FFF2-40B4-BE49-F238E27FC236}">
                <a16:creationId xmlns:a16="http://schemas.microsoft.com/office/drawing/2014/main" id="{C0C13584-E2ED-53EF-333D-E3822177D956}"/>
              </a:ext>
            </a:extLst>
          </p:cNvPr>
          <p:cNvSpPr/>
          <p:nvPr/>
        </p:nvSpPr>
        <p:spPr>
          <a:xfrm rot="10800000">
            <a:off x="7917242" y="2311696"/>
            <a:ext cx="540600" cy="422754"/>
          </a:xfrm>
          <a:prstGeom prst="chevron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D579429-E07A-C014-A2BF-BEE4A125B8AE}"/>
              </a:ext>
            </a:extLst>
          </p:cNvPr>
          <p:cNvSpPr/>
          <p:nvPr/>
        </p:nvSpPr>
        <p:spPr>
          <a:xfrm>
            <a:off x="473545" y="3987840"/>
            <a:ext cx="5277808" cy="75213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Taking the inverse Z-transform, the difference equation is:</a:t>
            </a: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76420FCA-6468-5E56-F7E8-9DCB2288F8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78" t="4500" r="952" b="3529"/>
          <a:stretch>
            <a:fillRect/>
          </a:stretch>
        </p:blipFill>
        <p:spPr>
          <a:xfrm>
            <a:off x="6039380" y="3752534"/>
            <a:ext cx="5980555" cy="2923878"/>
          </a:xfrm>
          <a:prstGeom prst="rect">
            <a:avLst/>
          </a:prstGeom>
          <a:ln>
            <a:solidFill>
              <a:schemeClr val="tx2">
                <a:lumMod val="10000"/>
              </a:schemeClr>
            </a:solidFill>
          </a:ln>
        </p:spPr>
      </p:pic>
      <p:pic>
        <p:nvPicPr>
          <p:cNvPr id="14" name="Imagem 13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A8D82E88-787C-C15C-BE7B-F5B675C88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4866788"/>
            <a:ext cx="5278966" cy="487892"/>
          </a:xfrm>
          <a:prstGeom prst="rect">
            <a:avLst/>
          </a:prstGeom>
        </p:spPr>
      </p:pic>
      <p:pic>
        <p:nvPicPr>
          <p:cNvPr id="15" name="Imagem 14" descr="Texto, Logotipo&#10;&#10;O conteúdo gerado por IA pode estar incorreto.">
            <a:extLst>
              <a:ext uri="{FF2B5EF4-FFF2-40B4-BE49-F238E27FC236}">
                <a16:creationId xmlns:a16="http://schemas.microsoft.com/office/drawing/2014/main" id="{9B5D9DC0-868B-6BF4-AEDF-6323A1D35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504" y="5350974"/>
            <a:ext cx="2160060" cy="425450"/>
          </a:xfrm>
          <a:prstGeom prst="rect">
            <a:avLst/>
          </a:prstGeom>
        </p:spPr>
      </p:pic>
      <p:pic>
        <p:nvPicPr>
          <p:cNvPr id="16" name="Imagem 15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25880CAE-0869-C107-7BF4-E96A4A83099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759" t="10589" r="49702" b="11320"/>
          <a:stretch>
            <a:fillRect/>
          </a:stretch>
        </p:blipFill>
        <p:spPr>
          <a:xfrm>
            <a:off x="3160713" y="5354403"/>
            <a:ext cx="2041840" cy="42021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83A38D2-88FE-F29C-F852-B6CD1A723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9617" y="5395953"/>
            <a:ext cx="249767" cy="335491"/>
          </a:xfrm>
          <a:prstGeom prst="rect">
            <a:avLst/>
          </a:prstGeom>
        </p:spPr>
      </p:pic>
      <p:pic>
        <p:nvPicPr>
          <p:cNvPr id="18" name="Imagem 1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50A82442-1EF0-68C5-84F8-00560CC489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504" y="5776953"/>
            <a:ext cx="2160059" cy="42015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A907DAF-3686-3406-2F18-48776A1032BF}"/>
              </a:ext>
            </a:extLst>
          </p:cNvPr>
          <p:cNvSpPr/>
          <p:nvPr/>
        </p:nvSpPr>
        <p:spPr>
          <a:xfrm>
            <a:off x="5561611" y="5393376"/>
            <a:ext cx="366156" cy="42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m 6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9F8A9705-14C9-E9D6-8A81-6F921DB1F4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778" r="95447" b="1111"/>
          <a:stretch>
            <a:fillRect/>
          </a:stretch>
        </p:blipFill>
        <p:spPr>
          <a:xfrm>
            <a:off x="1277512" y="2885035"/>
            <a:ext cx="277111" cy="27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30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7B0DDCC-55E5-1887-4C11-8A240A9E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A20F0CF1-EDEE-C539-EA24-B8343E543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FIR, IIR, AR, MA and ARMA systems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03CB6DE4-B6EF-1084-9A86-7121FC5F6A48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ea typeface="+mn-lt"/>
                <a:cs typeface="+mn-lt"/>
                <a:sym typeface="Calibri"/>
              </a:rPr>
              <a:t>Introduction to Digital Filters</a:t>
            </a:r>
            <a:endParaRPr lang="en-US" b="1" noProof="0">
              <a:solidFill>
                <a:schemeClr val="lt1"/>
              </a:solidFill>
              <a:cs typeface="Arial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3BB25286-6C6C-DA85-6899-FF46085B44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7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7ED491B-43D9-A17B-6E1A-EDB3540E6451}"/>
              </a:ext>
            </a:extLst>
          </p:cNvPr>
          <p:cNvSpPr/>
          <p:nvPr/>
        </p:nvSpPr>
        <p:spPr>
          <a:xfrm>
            <a:off x="1615116" y="1277408"/>
            <a:ext cx="4202542" cy="74366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Impulse</a:t>
            </a:r>
            <a:r>
              <a:rPr lang="en-US" sz="2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Response Duration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957D55E-D7B3-FF38-D10F-F80A0AEC10A7}"/>
              </a:ext>
            </a:extLst>
          </p:cNvPr>
          <p:cNvSpPr/>
          <p:nvPr/>
        </p:nvSpPr>
        <p:spPr>
          <a:xfrm>
            <a:off x="7059183" y="1277408"/>
            <a:ext cx="4202542" cy="74366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>
                <a:solidFill>
                  <a:schemeClr val="bg1"/>
                </a:solidFill>
                <a:ea typeface="+mn-lt"/>
                <a:cs typeface="+mn-lt"/>
              </a:rPr>
              <a:t>Recursiveness</a:t>
            </a:r>
            <a:endParaRPr 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EF818EA0-65CC-C26D-9C97-1708E05C66CF}"/>
                  </a:ext>
                </a:extLst>
              </p:cNvPr>
              <p:cNvSpPr/>
              <p:nvPr/>
            </p:nvSpPr>
            <p:spPr>
              <a:xfrm>
                <a:off x="344511" y="2240190"/>
                <a:ext cx="6979607" cy="133633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200" b="1" noProof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Generally: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2200" b="1" noProof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IIR -&gt; </a:t>
                </a:r>
                <a:r>
                  <a:rPr lang="en-US" sz="2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Infinite</a:t>
                </a:r>
                <a:r>
                  <a:rPr lang="en-US" sz="2200" b="1" noProof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Impulse Response -&gt; Recursive</a:t>
                </a:r>
                <a:r>
                  <a:rPr lang="en-US" sz="2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, N </a:t>
                </a:r>
                <a14:m>
                  <m:oMath xmlns:m="http://schemas.openxmlformats.org/officeDocument/2006/math">
                    <m:r>
                      <a:rPr lang="pt-BR" sz="2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≠</m:t>
                    </m:r>
                  </m:oMath>
                </a14:m>
                <a:r>
                  <a:rPr lang="en-US" sz="2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 0</a:t>
                </a:r>
                <a:endParaRPr lang="en-US" noProof="0" dirty="0">
                  <a:solidFill>
                    <a:schemeClr val="bg1"/>
                  </a:solidFill>
                  <a:latin typeface="Arial"/>
                  <a:ea typeface="Calibri"/>
                  <a:cs typeface="Arial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en-US" sz="2200" b="1" noProof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FIR -&gt; Finite Impulse Response -&gt; Non-recursive</a:t>
                </a:r>
                <a:r>
                  <a:rPr lang="en-US" sz="2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, N = 0</a:t>
                </a:r>
                <a:endParaRPr lang="en-US" sz="2200" b="1" noProof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EF818EA0-65CC-C26D-9C97-1708E05C6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11" y="2240190"/>
                <a:ext cx="6979607" cy="133633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E25537A-9563-F997-9016-CC7960F8D1CB}"/>
              </a:ext>
            </a:extLst>
          </p:cNvPr>
          <p:cNvSpPr/>
          <p:nvPr/>
        </p:nvSpPr>
        <p:spPr>
          <a:xfrm>
            <a:off x="1115583" y="3783542"/>
            <a:ext cx="5836608" cy="85373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But, for example, you can create a recursive FIR using cancellation of poles and zeros</a:t>
            </a:r>
            <a:endParaRPr lang="en-US" noProof="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1BAFFD6-29D6-B52A-C817-4FBCE910B740}"/>
              </a:ext>
            </a:extLst>
          </p:cNvPr>
          <p:cNvSpPr/>
          <p:nvPr/>
        </p:nvSpPr>
        <p:spPr>
          <a:xfrm>
            <a:off x="1852184" y="4892676"/>
            <a:ext cx="8969275" cy="1429468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 -&gt; Moving-average -&gt; non-recursive FIR</a:t>
            </a:r>
          </a:p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AR -&gt; Autoregressive -&gt; special recursive IIR </a:t>
            </a:r>
            <a:r>
              <a:rPr lang="en-US" sz="2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-&gt; H(z) = g/A(z)</a:t>
            </a:r>
            <a:endParaRPr lang="en-US" sz="2200" b="1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ARMA -&gt; Autoregressive-moving-average -&gt; Generic </a:t>
            </a:r>
            <a:r>
              <a:rPr lang="en-US" sz="2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-&gt; H(z) = B(z)/A(z)</a:t>
            </a:r>
            <a:endParaRPr lang="en-US" sz="2200" b="1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eta: Divisa 13">
            <a:extLst>
              <a:ext uri="{FF2B5EF4-FFF2-40B4-BE49-F238E27FC236}">
                <a16:creationId xmlns:a16="http://schemas.microsoft.com/office/drawing/2014/main" id="{C859F854-78A2-A0E1-3B60-1A0C216B11B9}"/>
              </a:ext>
            </a:extLst>
          </p:cNvPr>
          <p:cNvSpPr/>
          <p:nvPr/>
        </p:nvSpPr>
        <p:spPr>
          <a:xfrm>
            <a:off x="7231270" y="3887419"/>
            <a:ext cx="560841" cy="644967"/>
          </a:xfrm>
          <a:prstGeom prst="chevron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pic>
        <p:nvPicPr>
          <p:cNvPr id="16" name="Imagem 15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1F36C304-EAEF-0C5D-ACAD-846BF39B0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641" y="3784601"/>
            <a:ext cx="3270250" cy="855134"/>
          </a:xfrm>
          <a:prstGeom prst="rect">
            <a:avLst/>
          </a:prstGeom>
        </p:spPr>
      </p:pic>
      <p:sp>
        <p:nvSpPr>
          <p:cNvPr id="2" name="Seta: Divisa 13">
            <a:extLst>
              <a:ext uri="{FF2B5EF4-FFF2-40B4-BE49-F238E27FC236}">
                <a16:creationId xmlns:a16="http://schemas.microsoft.com/office/drawing/2014/main" id="{045159EB-0547-D7FF-B0D1-9B2D9114EA20}"/>
              </a:ext>
            </a:extLst>
          </p:cNvPr>
          <p:cNvSpPr/>
          <p:nvPr/>
        </p:nvSpPr>
        <p:spPr>
          <a:xfrm>
            <a:off x="7512483" y="2581132"/>
            <a:ext cx="560841" cy="644967"/>
          </a:xfrm>
          <a:prstGeom prst="chevron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pic>
        <p:nvPicPr>
          <p:cNvPr id="8" name="Imagem 20" descr="Texto&#10;&#10;O conteúdo gerado por IA pode estar incorreto.">
            <a:extLst>
              <a:ext uri="{FF2B5EF4-FFF2-40B4-BE49-F238E27FC236}">
                <a16:creationId xmlns:a16="http://schemas.microsoft.com/office/drawing/2014/main" id="{CEA1F668-2B23-091F-AB4C-5C53670278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414" t="-4501" r="-212"/>
          <a:stretch>
            <a:fillRect/>
          </a:stretch>
        </p:blipFill>
        <p:spPr>
          <a:xfrm>
            <a:off x="8875712" y="2353539"/>
            <a:ext cx="2225092" cy="1144681"/>
          </a:xfrm>
          <a:prstGeom prst="rect">
            <a:avLst/>
          </a:prstGeom>
        </p:spPr>
      </p:pic>
      <p:pic>
        <p:nvPicPr>
          <p:cNvPr id="15" name="Imagem 20" descr="Texto&#10;&#10;O conteúdo gerado por IA pode estar incorreto.">
            <a:extLst>
              <a:ext uri="{FF2B5EF4-FFF2-40B4-BE49-F238E27FC236}">
                <a16:creationId xmlns:a16="http://schemas.microsoft.com/office/drawing/2014/main" id="{4BDF92E2-6038-FAB8-FF9D-05EBBDD0B5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47" r="80550" b="4059"/>
          <a:stretch>
            <a:fillRect/>
          </a:stretch>
        </p:blipFill>
        <p:spPr>
          <a:xfrm>
            <a:off x="8131854" y="2434425"/>
            <a:ext cx="835545" cy="992346"/>
          </a:xfrm>
          <a:prstGeom prst="rect">
            <a:avLst/>
          </a:prstGeom>
        </p:spPr>
      </p:pic>
      <p:sp>
        <p:nvSpPr>
          <p:cNvPr id="17" name="Not Equal 16">
            <a:extLst>
              <a:ext uri="{FF2B5EF4-FFF2-40B4-BE49-F238E27FC236}">
                <a16:creationId xmlns:a16="http://schemas.microsoft.com/office/drawing/2014/main" id="{6D4D7FB7-161E-6F28-43E7-85CCB44FBF27}"/>
              </a:ext>
            </a:extLst>
          </p:cNvPr>
          <p:cNvSpPr/>
          <p:nvPr/>
        </p:nvSpPr>
        <p:spPr>
          <a:xfrm>
            <a:off x="6091876" y="1354117"/>
            <a:ext cx="702623" cy="583870"/>
          </a:xfrm>
          <a:prstGeom prst="mathNotEqual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102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8167C37-5DA3-7F93-D344-430465EA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B6E153FA-D25A-AE72-3628-E7C002E17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IIR Filter Design  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772184DF-6BE3-6EB9-17EE-90A911F91642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IIR Filter Design</a:t>
            </a:r>
            <a:endParaRPr lang="en-US" noProof="0"/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6C1369ED-43C0-68D5-AD3C-B6D473ADEF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8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CC340DF-30FE-4A05-0246-E743BF6A629D}"/>
              </a:ext>
            </a:extLst>
          </p:cNvPr>
          <p:cNvSpPr/>
          <p:nvPr/>
        </p:nvSpPr>
        <p:spPr>
          <a:xfrm>
            <a:off x="3985782" y="1226608"/>
            <a:ext cx="4227942" cy="582801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IIR -&gt; Infinite Impulse Response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A98C728-CA07-D06E-5316-54F70B0F2292}"/>
              </a:ext>
            </a:extLst>
          </p:cNvPr>
          <p:cNvSpPr/>
          <p:nvPr/>
        </p:nvSpPr>
        <p:spPr>
          <a:xfrm>
            <a:off x="4307514" y="2115874"/>
            <a:ext cx="1154544" cy="481201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Direct</a:t>
            </a:r>
            <a:endParaRPr lang="en-US" noProof="0">
              <a:solidFill>
                <a:schemeClr val="bg1"/>
              </a:solidFill>
              <a:ea typeface="Calibri"/>
              <a:cs typeface="Arial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2A43D66-EC03-53A4-EC4E-2A252677A26E}"/>
              </a:ext>
            </a:extLst>
          </p:cNvPr>
          <p:cNvSpPr/>
          <p:nvPr/>
        </p:nvSpPr>
        <p:spPr>
          <a:xfrm>
            <a:off x="6703582" y="2115875"/>
            <a:ext cx="1230744" cy="481201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Indirect</a:t>
            </a:r>
            <a:endParaRPr lang="en-US" noProof="0">
              <a:solidFill>
                <a:schemeClr val="bg1"/>
              </a:solidFill>
              <a:ea typeface="Calibri"/>
              <a:cs typeface="Arial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CB6960E-33AB-8064-A1E6-A1390C12BCDF}"/>
              </a:ext>
            </a:extLst>
          </p:cNvPr>
          <p:cNvSpPr/>
          <p:nvPr/>
        </p:nvSpPr>
        <p:spPr>
          <a:xfrm>
            <a:off x="4475001" y="2922096"/>
            <a:ext cx="818781" cy="54351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H(z)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9DA40C7-14E4-DDB9-D401-4B53523C2815}"/>
              </a:ext>
            </a:extLst>
          </p:cNvPr>
          <p:cNvSpPr/>
          <p:nvPr/>
        </p:nvSpPr>
        <p:spPr>
          <a:xfrm>
            <a:off x="6913402" y="2922097"/>
            <a:ext cx="818781" cy="54351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H(s)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9D10079-64C1-DE99-EBD1-24D0A82304A1}"/>
              </a:ext>
            </a:extLst>
          </p:cNvPr>
          <p:cNvSpPr/>
          <p:nvPr/>
        </p:nvSpPr>
        <p:spPr>
          <a:xfrm>
            <a:off x="6913402" y="3785697"/>
            <a:ext cx="818781" cy="54351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noProof="0">
                <a:latin typeface="Calibri"/>
                <a:ea typeface="Calibri"/>
                <a:cs typeface="Calibri"/>
              </a:rPr>
              <a:t>H(z)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180AAE4-BAF7-2768-BC6F-92DC54A8B8E6}"/>
              </a:ext>
            </a:extLst>
          </p:cNvPr>
          <p:cNvCxnSpPr>
            <a:cxnSpLocks/>
          </p:cNvCxnSpPr>
          <p:nvPr/>
        </p:nvCxnSpPr>
        <p:spPr>
          <a:xfrm flipH="1">
            <a:off x="4878782" y="2603181"/>
            <a:ext cx="10096" cy="313267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190E830-6933-C1D6-0F3F-7496A01D997E}"/>
              </a:ext>
            </a:extLst>
          </p:cNvPr>
          <p:cNvCxnSpPr>
            <a:cxnSpLocks/>
          </p:cNvCxnSpPr>
          <p:nvPr/>
        </p:nvCxnSpPr>
        <p:spPr>
          <a:xfrm flipH="1">
            <a:off x="7317183" y="2603182"/>
            <a:ext cx="10096" cy="313267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1D73681-C68D-F6F1-DCF4-22649BD6974B}"/>
              </a:ext>
            </a:extLst>
          </p:cNvPr>
          <p:cNvCxnSpPr>
            <a:cxnSpLocks/>
          </p:cNvCxnSpPr>
          <p:nvPr/>
        </p:nvCxnSpPr>
        <p:spPr>
          <a:xfrm flipH="1">
            <a:off x="7317183" y="3466782"/>
            <a:ext cx="10096" cy="313267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CE906FF-2EDF-4615-F45F-5D608FA67350}"/>
              </a:ext>
            </a:extLst>
          </p:cNvPr>
          <p:cNvSpPr/>
          <p:nvPr/>
        </p:nvSpPr>
        <p:spPr>
          <a:xfrm>
            <a:off x="2131582" y="2928407"/>
            <a:ext cx="1882676" cy="540468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ea typeface="+mn-lt"/>
                <a:cs typeface="+mn-lt"/>
              </a:rPr>
              <a:t>Yule-Walker</a:t>
            </a:r>
            <a:endParaRPr lang="en-US" b="1" noProof="0">
              <a:solidFill>
                <a:schemeClr val="bg1"/>
              </a:solidFill>
              <a:cs typeface="Arial"/>
            </a:endParaRPr>
          </a:p>
        </p:txBody>
      </p:sp>
      <p:pic>
        <p:nvPicPr>
          <p:cNvPr id="17" name="Imagem 16" descr="Texto, Carta&#10;&#10;O conteúdo gerado por IA pode estar incorreto.">
            <a:extLst>
              <a:ext uri="{FF2B5EF4-FFF2-40B4-BE49-F238E27FC236}">
                <a16:creationId xmlns:a16="http://schemas.microsoft.com/office/drawing/2014/main" id="{8E7E7599-C074-3856-044C-6902563E6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6" y="5046662"/>
            <a:ext cx="5674783" cy="1362075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9B237D3-C596-4A67-C964-61222DA41F7F}"/>
              </a:ext>
            </a:extLst>
          </p:cNvPr>
          <p:cNvCxnSpPr/>
          <p:nvPr/>
        </p:nvCxnSpPr>
        <p:spPr>
          <a:xfrm flipH="1">
            <a:off x="6097057" y="1945341"/>
            <a:ext cx="7409" cy="447388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CAF4EAD-93BE-0066-A535-652A6EB62543}"/>
              </a:ext>
            </a:extLst>
          </p:cNvPr>
          <p:cNvSpPr/>
          <p:nvPr/>
        </p:nvSpPr>
        <p:spPr>
          <a:xfrm>
            <a:off x="8329182" y="2598207"/>
            <a:ext cx="3508274" cy="118393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cs typeface="Arial"/>
              </a:rPr>
              <a:t>Many well-established algorithms for analog filters H(s)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0A8210A8-7ABB-DDAD-228B-AB7B907DF668}"/>
              </a:ext>
            </a:extLst>
          </p:cNvPr>
          <p:cNvCxnSpPr>
            <a:cxnSpLocks/>
          </p:cNvCxnSpPr>
          <p:nvPr/>
        </p:nvCxnSpPr>
        <p:spPr>
          <a:xfrm>
            <a:off x="7725212" y="3187382"/>
            <a:ext cx="607971" cy="1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CAB5F1C-0B8B-3E6E-891B-73F7B9DA0A80}"/>
              </a:ext>
            </a:extLst>
          </p:cNvPr>
          <p:cNvSpPr/>
          <p:nvPr/>
        </p:nvSpPr>
        <p:spPr>
          <a:xfrm>
            <a:off x="6458048" y="4697940"/>
            <a:ext cx="5514874" cy="1641135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cs typeface="Arial"/>
              </a:rPr>
              <a:t>Three Steps: </a:t>
            </a:r>
          </a:p>
          <a:p>
            <a:pPr marL="457200" indent="-457200">
              <a:buFont typeface="Arial"/>
              <a:buChar char="•"/>
            </a:pPr>
            <a:r>
              <a:rPr lang="en-US" b="1" noProof="0">
                <a:solidFill>
                  <a:schemeClr val="bg1"/>
                </a:solidFill>
                <a:ea typeface="+mn-lt"/>
                <a:cs typeface="+mn-lt"/>
              </a:rPr>
              <a:t>Convert the filter specification from discrete to continuous-time</a:t>
            </a:r>
          </a:p>
          <a:p>
            <a:pPr marL="457200" indent="-457200">
              <a:buFont typeface="Arial"/>
              <a:buChar char="•"/>
            </a:pPr>
            <a:r>
              <a:rPr lang="en-US" b="1" noProof="0">
                <a:solidFill>
                  <a:schemeClr val="bg1"/>
                </a:solidFill>
                <a:ea typeface="+mn-lt"/>
                <a:cs typeface="+mn-lt"/>
              </a:rPr>
              <a:t>Design the continuous-time H(s)</a:t>
            </a:r>
          </a:p>
          <a:p>
            <a:pPr marL="457200" indent="-457200">
              <a:buFont typeface="Arial"/>
              <a:buChar char="•"/>
            </a:pPr>
            <a:r>
              <a:rPr lang="en-US" b="1" noProof="0">
                <a:solidFill>
                  <a:schemeClr val="bg1"/>
                </a:solidFill>
                <a:ea typeface="+mn-lt"/>
                <a:cs typeface="+mn-lt"/>
              </a:rPr>
              <a:t>Convert H(s) into H(z)</a:t>
            </a:r>
            <a:endParaRPr lang="en-US" b="1" noProof="0">
              <a:solidFill>
                <a:schemeClr val="bg1"/>
              </a:solidFill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16B2FAB5-FB3B-310F-B6C7-A195730527C0}"/>
                  </a:ext>
                </a:extLst>
              </p:cNvPr>
              <p:cNvSpPr/>
              <p:nvPr/>
            </p:nvSpPr>
            <p:spPr>
              <a:xfrm>
                <a:off x="421315" y="3952873"/>
                <a:ext cx="4947608" cy="963802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200" b="1" noProof="0">
                    <a:solidFill>
                      <a:schemeClr val="bg1"/>
                    </a:solidFill>
                    <a:cs typeface="Arial"/>
                  </a:rPr>
                  <a:t>Input: Description of the frequency response magnitude </a:t>
                </a:r>
                <a14:m>
                  <m:oMath xmlns:m="http://schemas.openxmlformats.org/officeDocument/2006/math">
                    <m:r>
                      <a:rPr lang="en-US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|</m:t>
                    </m:r>
                    <m:r>
                      <a:rPr lang="en-US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𝑯</m:t>
                    </m:r>
                    <m:r>
                      <a:rPr lang="en-US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sSup>
                      <m:sSupPr>
                        <m:ctrlPr>
                          <a:rPr lang="en-US" sz="22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22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𝒆</m:t>
                        </m:r>
                      </m:e>
                      <m:sup>
                        <m:r>
                          <a:rPr lang="en-US" sz="2200" b="1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𝒋</m:t>
                        </m:r>
                        <m:r>
                          <a:rPr lang="en-US" sz="2200" b="1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𝛀</m:t>
                        </m:r>
                      </m:sup>
                    </m:sSup>
                    <m:r>
                      <a:rPr lang="en-US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)|</m:t>
                    </m:r>
                  </m:oMath>
                </a14:m>
                <a:r>
                  <a:rPr lang="en-US" sz="2200" b="1" noProof="0">
                    <a:solidFill>
                      <a:schemeClr val="bg1"/>
                    </a:solidFill>
                    <a:cs typeface="Arial"/>
                  </a:rPr>
                  <a:t> </a:t>
                </a:r>
              </a:p>
            </p:txBody>
          </p:sp>
        </mc:Choice>
        <mc:Fallback xmlns=""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16B2FAB5-FB3B-310F-B6C7-A195730527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15" y="3952873"/>
                <a:ext cx="4947608" cy="963802"/>
              </a:xfrm>
              <a:prstGeom prst="roundRect">
                <a:avLst/>
              </a:prstGeom>
              <a:blipFill>
                <a:blip r:embed="rId4"/>
                <a:stretch>
                  <a:fillRect l="-245" r="-1716" b="-1840"/>
                </a:stretch>
              </a:blipFill>
              <a:ln>
                <a:solidFill>
                  <a:schemeClr val="tx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4A90AB65-A0DD-6BBB-E0FA-032EAFE37741}"/>
              </a:ext>
            </a:extLst>
          </p:cNvPr>
          <p:cNvCxnSpPr>
            <a:cxnSpLocks/>
          </p:cNvCxnSpPr>
          <p:nvPr/>
        </p:nvCxnSpPr>
        <p:spPr>
          <a:xfrm flipH="1">
            <a:off x="4015184" y="3195849"/>
            <a:ext cx="458827" cy="1"/>
          </a:xfrm>
          <a:prstGeom prst="straightConnector1">
            <a:avLst/>
          </a:prstGeom>
          <a:ln w="57150"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94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4BEC747-E488-3668-BE4F-848112E6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A402658C-7CE5-A300-5374-956FFCC75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84289"/>
            <a:ext cx="8550353" cy="96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Methods to convert continuous into discrete-time system functions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971D8F43-96C0-9EDC-E5B4-227F2E36CBCB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IIR Filter Design</a:t>
            </a:r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CEF19ABD-E377-CD09-5ADC-379DD8BE5E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9</a:t>
            </a:fld>
            <a:endParaRPr lang="en-US" noProof="0">
              <a:solidFill>
                <a:schemeClr val="lt1"/>
              </a:solidFill>
            </a:endParaRP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A59543FA-CA87-DA58-E0E8-BE5DE276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7" y="1811839"/>
            <a:ext cx="10955867" cy="41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3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ECBDF3-0AD7-4073-6E82-F2A43B7B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94341AC5-F3AA-5325-B727-13823F3F3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84289"/>
            <a:ext cx="8550353" cy="9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Bilinear Transformation: Definition and Properties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040F04BC-9CD4-6B5C-CFF2-A591CECE6C5D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Bilinear Transformation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B85688F2-99D1-8006-46D9-CB26BFB199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10</a:t>
            </a:fld>
            <a:endParaRPr lang="en-US" noProof="0">
              <a:solidFill>
                <a:schemeClr val="lt1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F6DC7C1-B6CC-2B8C-BF2E-1A90D51A0E41}"/>
              </a:ext>
            </a:extLst>
          </p:cNvPr>
          <p:cNvSpPr/>
          <p:nvPr/>
        </p:nvSpPr>
        <p:spPr>
          <a:xfrm>
            <a:off x="3206850" y="1539875"/>
            <a:ext cx="5709606" cy="853733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Most popular approach to design conventional (low, high, pass) IIR filters</a:t>
            </a:r>
          </a:p>
        </p:txBody>
      </p:sp>
      <p:pic>
        <p:nvPicPr>
          <p:cNvPr id="5" name="Imagem 4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30875964-DD27-0FB6-FE53-D0FB73F0E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526" y="3652307"/>
            <a:ext cx="6517217" cy="941917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7BAFC14-FB85-D043-E76D-386E785B3F73}"/>
              </a:ext>
            </a:extLst>
          </p:cNvPr>
          <p:cNvSpPr/>
          <p:nvPr/>
        </p:nvSpPr>
        <p:spPr>
          <a:xfrm>
            <a:off x="6305649" y="2649007"/>
            <a:ext cx="5083075" cy="7944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It is a simple transformation from H(s) in continuous-time to H(z) in discrete-time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606813A-06E1-9F20-3423-E4B1DDC5A3CF}"/>
              </a:ext>
            </a:extLst>
          </p:cNvPr>
          <p:cNvSpPr/>
          <p:nvPr/>
        </p:nvSpPr>
        <p:spPr>
          <a:xfrm>
            <a:off x="1056316" y="2649007"/>
            <a:ext cx="4312608" cy="7944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It is not a common "Transform" such as Fourier, Z or Laplace</a:t>
            </a:r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73911BE3-9AE8-1CAF-C569-88F7C45E4115}"/>
              </a:ext>
            </a:extLst>
          </p:cNvPr>
          <p:cNvSpPr/>
          <p:nvPr/>
        </p:nvSpPr>
        <p:spPr>
          <a:xfrm>
            <a:off x="5560348" y="2806882"/>
            <a:ext cx="601124" cy="560507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pic>
        <p:nvPicPr>
          <p:cNvPr id="10" name="Imagem 9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FD731513-3760-5BE3-3926-20CC75B77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84" y="5488516"/>
            <a:ext cx="1680634" cy="571500"/>
          </a:xfrm>
          <a:prstGeom prst="rect">
            <a:avLst/>
          </a:prstGeom>
        </p:spPr>
      </p:pic>
      <p:pic>
        <p:nvPicPr>
          <p:cNvPr id="11" name="Imagem 10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68B77F20-C7CA-7A6D-ECB5-4B259E637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266" y="5381952"/>
            <a:ext cx="7467600" cy="801562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C040182-17D8-7406-B9F9-1983BB44CD15}"/>
              </a:ext>
            </a:extLst>
          </p:cNvPr>
          <p:cNvSpPr/>
          <p:nvPr/>
        </p:nvSpPr>
        <p:spPr>
          <a:xfrm>
            <a:off x="1013981" y="4875741"/>
            <a:ext cx="1620209" cy="43886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b="1" noProof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Example: 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3" name="Seta: Divisa 12">
            <a:extLst>
              <a:ext uri="{FF2B5EF4-FFF2-40B4-BE49-F238E27FC236}">
                <a16:creationId xmlns:a16="http://schemas.microsoft.com/office/drawing/2014/main" id="{C120907B-E89C-9256-E5CE-59662AC85F7E}"/>
              </a:ext>
            </a:extLst>
          </p:cNvPr>
          <p:cNvSpPr/>
          <p:nvPr/>
        </p:nvSpPr>
        <p:spPr>
          <a:xfrm>
            <a:off x="2978014" y="5626281"/>
            <a:ext cx="516458" cy="441974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14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ED8A219-E056-87CC-BC17-FC4E9A7C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03E68580-E139-43CA-41B6-FEFE1E302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09571"/>
            <a:ext cx="7850669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Mapping the Z-plane DTFT into the S-plane FT via Bilinear Transform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BD25DD34-D101-6947-D244-2DB2FDA28029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Bilinear Transformation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DC031204-B107-B161-BA03-4081B45C16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11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7BD6F29D-59EE-3582-0A60-9BC4F1D19A10}"/>
                  </a:ext>
                </a:extLst>
              </p:cNvPr>
              <p:cNvSpPr/>
              <p:nvPr/>
            </p:nvSpPr>
            <p:spPr>
              <a:xfrm>
                <a:off x="8547999" y="736892"/>
                <a:ext cx="3643996" cy="73243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 b="0" i="1" noProof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600" b="0" i="0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lit/>
                        </m:rPr>
                        <a:rPr lang="en-US" sz="3600" b="0" i="1" noProof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US" sz="3600" noProof="0"/>
              </a:p>
            </p:txBody>
          </p:sp>
        </mc:Choice>
        <mc:Fallback xmlns=""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7BD6F29D-59EE-3582-0A60-9BC4F1D19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999" y="736892"/>
                <a:ext cx="3643996" cy="73243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FECAA5FA-92DC-0D31-EF0B-2DC1FC4C8BEB}"/>
                  </a:ext>
                </a:extLst>
              </p:cNvPr>
              <p:cNvSpPr/>
              <p:nvPr/>
            </p:nvSpPr>
            <p:spPr>
              <a:xfrm>
                <a:off x="1724025" y="1683289"/>
                <a:ext cx="2718020" cy="73243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200" b="1" i="0" noProof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sz="3200" b="1" noProof="0"/>
              </a:p>
            </p:txBody>
          </p:sp>
        </mc:Choice>
        <mc:Fallback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FECAA5FA-92DC-0D31-EF0B-2DC1FC4C8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25" y="1683289"/>
                <a:ext cx="2718020" cy="73243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4770DEEE-01AB-F844-8D95-BF64B724CB20}"/>
                  </a:ext>
                </a:extLst>
              </p:cNvPr>
              <p:cNvSpPr/>
              <p:nvPr/>
            </p:nvSpPr>
            <p:spPr>
              <a:xfrm>
                <a:off x="5600700" y="1665393"/>
                <a:ext cx="2718020" cy="73243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−∞&lt;</m:t>
                      </m:r>
                      <m:r>
                        <a:rPr lang="en-US" sz="3200" b="1" i="0" noProof="0" smtClean="0">
                          <a:latin typeface="Cambria Math" panose="02040503050406030204" pitchFamily="18" charset="0"/>
                        </a:rPr>
                        <m:t>𝛚</m:t>
                      </m:r>
                      <m:r>
                        <a:rPr lang="en-US" sz="3200" b="1" i="1" noProof="0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sz="3600" b="1" noProof="0"/>
              </a:p>
            </p:txBody>
          </p:sp>
        </mc:Choice>
        <mc:Fallback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4770DEEE-01AB-F844-8D95-BF64B724C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1665393"/>
                <a:ext cx="2718020" cy="73243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7C599E2-DBF0-ECCA-2AF4-FB1DE6E6E998}"/>
              </a:ext>
            </a:extLst>
          </p:cNvPr>
          <p:cNvSpPr/>
          <p:nvPr/>
        </p:nvSpPr>
        <p:spPr>
          <a:xfrm>
            <a:off x="9953625" y="2762908"/>
            <a:ext cx="2038350" cy="58909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Not linear!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90EBE61-B79A-C0F9-F3A0-080321051346}"/>
              </a:ext>
            </a:extLst>
          </p:cNvPr>
          <p:cNvSpPr/>
          <p:nvPr/>
        </p:nvSpPr>
        <p:spPr>
          <a:xfrm>
            <a:off x="9953625" y="5532017"/>
            <a:ext cx="2038350" cy="58909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 dirty="0"/>
              <a:t>Frequency is “warped”</a:t>
            </a:r>
          </a:p>
        </p:txBody>
      </p:sp>
      <p:pic>
        <p:nvPicPr>
          <p:cNvPr id="4" name="baixados (1)">
            <a:hlinkClick r:id="" action="ppaction://media"/>
            <a:extLst>
              <a:ext uri="{FF2B5EF4-FFF2-40B4-BE49-F238E27FC236}">
                <a16:creationId xmlns:a16="http://schemas.microsoft.com/office/drawing/2014/main" id="{D124B87A-9380-A59D-9846-61900E8CBD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7220" t="7468" r="14543" b="2055"/>
          <a:stretch>
            <a:fillRect/>
          </a:stretch>
        </p:blipFill>
        <p:spPr>
          <a:xfrm>
            <a:off x="798799" y="2544585"/>
            <a:ext cx="8951594" cy="43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AB6D505-495B-41E4-248D-CE8624E5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778DB33B-806E-300A-68E9-6210FCE55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/>
              <a:t>Since bilinear warps, we pre-warp</a:t>
            </a:r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F6B2235F-A1CE-EC14-50F7-4E5488F16DE5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Design with Bilinear Transformation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A9918620-BBF4-50D3-910E-64389285B2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12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A64E157E-AC5D-5614-80E9-F0291A7CF960}"/>
                  </a:ext>
                </a:extLst>
              </p:cNvPr>
              <p:cNvSpPr/>
              <p:nvPr/>
            </p:nvSpPr>
            <p:spPr>
              <a:xfrm>
                <a:off x="86031" y="1357465"/>
                <a:ext cx="5267019" cy="169890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 noProof="0"/>
                  <a:t>In </a:t>
                </a:r>
                <a:r>
                  <a:rPr lang="pt-BR" sz="2400" b="1" noProof="0" err="1"/>
                  <a:t>this</a:t>
                </a:r>
                <a:r>
                  <a:rPr lang="pt-BR" sz="2400" b="1" noProof="0"/>
                  <a:t> </a:t>
                </a:r>
                <a:r>
                  <a:rPr lang="pt-BR" sz="2400" b="1" noProof="0" err="1"/>
                  <a:t>example</a:t>
                </a:r>
                <a:r>
                  <a:rPr lang="pt-BR" sz="2400" b="1" noProof="0"/>
                  <a:t>, assume </a:t>
                </a:r>
                <a:r>
                  <a:rPr lang="pt-BR" sz="2400" b="1" noProof="0" err="1"/>
                  <a:t>we</a:t>
                </a:r>
                <a:r>
                  <a:rPr lang="pt-BR" sz="2400" b="1" noProof="0"/>
                  <a:t> </a:t>
                </a:r>
                <a:r>
                  <a:rPr lang="pt-BR" sz="2400" b="1" noProof="0" err="1"/>
                  <a:t>know</a:t>
                </a:r>
                <a:r>
                  <a:rPr lang="pt-BR" sz="2400" b="1" noProof="0"/>
                  <a:t> </a:t>
                </a:r>
                <a:r>
                  <a:rPr lang="pt-BR" sz="2400" b="1" noProof="0" err="1"/>
                  <a:t>an</a:t>
                </a:r>
                <a:r>
                  <a:rPr lang="pt-BR" sz="2400" b="1" noProof="0"/>
                  <a:t> </a:t>
                </a:r>
                <a:r>
                  <a:rPr lang="pt-BR" sz="2400" b="1" noProof="0" err="1"/>
                  <a:t>analog</a:t>
                </a:r>
                <a:r>
                  <a:rPr lang="pt-BR" sz="2400" b="1" noProof="0"/>
                  <a:t> H(s) </a:t>
                </a:r>
                <a:r>
                  <a:rPr lang="pt-BR" sz="2400" b="1" noProof="0" err="1"/>
                  <a:t>with</a:t>
                </a:r>
                <a:r>
                  <a:rPr lang="pt-BR" sz="2400" b="1" noProof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pt-BR" sz="2400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noProof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noProof="0"/>
                  <a:t> rad/s</a:t>
                </a:r>
              </a:p>
            </p:txBody>
          </p:sp>
        </mc:Choice>
        <mc:Fallback xmlns=""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A64E157E-AC5D-5614-80E9-F0291A7CF9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1" y="1357465"/>
                <a:ext cx="5267019" cy="169890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0DCDC744-56B6-A430-9646-74C61470299F}"/>
                  </a:ext>
                </a:extLst>
              </p:cNvPr>
              <p:cNvSpPr/>
              <p:nvPr/>
            </p:nvSpPr>
            <p:spPr>
              <a:xfrm>
                <a:off x="5496235" y="1357465"/>
                <a:ext cx="6245360" cy="169890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/>
                  <a:t>You have multiple clients with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b="1" noProof="0"/>
                  <a:t> specifications [5, 10, 20], but they all want H(z) with cutoff at 2 rad/s</a:t>
                </a:r>
              </a:p>
            </p:txBody>
          </p:sp>
        </mc:Choice>
        <mc:Fallback xmlns=""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0DCDC744-56B6-A430-9646-74C614702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235" y="1357465"/>
                <a:ext cx="6245360" cy="169890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57F757DF-3F14-AC74-C111-7D1500381F89}"/>
                  </a:ext>
                </a:extLst>
              </p:cNvPr>
              <p:cNvSpPr/>
              <p:nvPr/>
            </p:nvSpPr>
            <p:spPr>
              <a:xfrm>
                <a:off x="66983" y="4219680"/>
                <a:ext cx="3571566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2400" b="1" noProof="0"/>
                  <a:t> Hz,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0" noProof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pt-BR" sz="2400" b="1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57F757DF-3F14-AC74-C111-7D1500381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3" y="4219680"/>
                <a:ext cx="3571566" cy="73243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90DA5E6D-948D-62BA-B1F3-AE7C5BFCBC7F}"/>
                  </a:ext>
                </a:extLst>
              </p:cNvPr>
              <p:cNvSpPr/>
              <p:nvPr/>
            </p:nvSpPr>
            <p:spPr>
              <a:xfrm>
                <a:off x="66984" y="3321018"/>
                <a:ext cx="3571566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 noProof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0" noProof="0" dirty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pt-BR" sz="2400" b="1" i="0" noProof="0" dirty="0" smtClean="0">
                            <a:latin typeface="Cambria Math" panose="02040503050406030204" pitchFamily="18" charset="0"/>
                          </a:rPr>
                          <m:t>𝐜</m:t>
                        </m:r>
                      </m:sub>
                    </m:sSub>
                    <m:r>
                      <a:rPr lang="pt-BR" sz="2400" b="1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noProof="0"/>
                  <a:t>requirement </a:t>
                </a:r>
              </a:p>
            </p:txBody>
          </p:sp>
        </mc:Choice>
        <mc:Fallback xmlns="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90DA5E6D-948D-62BA-B1F3-AE7C5BFCBC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4" y="3321018"/>
                <a:ext cx="3571566" cy="73243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CB905181-0ECE-3F8F-266E-2650FB6E7C54}"/>
                  </a:ext>
                </a:extLst>
              </p:cNvPr>
              <p:cNvSpPr/>
              <p:nvPr/>
            </p:nvSpPr>
            <p:spPr>
              <a:xfrm>
                <a:off x="66982" y="5118342"/>
                <a:ext cx="3571566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noProof="0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400" b="1" noProof="0"/>
                  <a:t> Hz,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0" noProof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pt-BR" sz="2400" b="1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CB905181-0ECE-3F8F-266E-2650FB6E7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2" y="5118342"/>
                <a:ext cx="3571566" cy="732434"/>
              </a:xfrm>
              <a:prstGeom prst="roundRect">
                <a:avLst/>
              </a:prstGeom>
              <a:blipFill>
                <a:blip r:embed="rId7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71E5B374-FF18-1CD9-0E4B-D5BBA0927A0C}"/>
                  </a:ext>
                </a:extLst>
              </p:cNvPr>
              <p:cNvSpPr/>
              <p:nvPr/>
            </p:nvSpPr>
            <p:spPr>
              <a:xfrm>
                <a:off x="66981" y="6017005"/>
                <a:ext cx="3571566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 noProof="0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noProof="0" dirty="0" smtClean="0"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sz="2400" b="1" noProof="0"/>
                  <a:t> Hz,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0" noProof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pt-BR" sz="2400" b="1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1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pt-BR" sz="2400" b="1" i="1" noProof="0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71E5B374-FF18-1CD9-0E4B-D5BBA0927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1" y="6017005"/>
                <a:ext cx="3571566" cy="732434"/>
              </a:xfrm>
              <a:prstGeom prst="roundRect">
                <a:avLst/>
              </a:prstGeom>
              <a:blipFill>
                <a:blip r:embed="rId8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61F1633F-B19D-2930-B92C-A93FD25C8A23}"/>
                  </a:ext>
                </a:extLst>
              </p:cNvPr>
              <p:cNvSpPr/>
              <p:nvPr/>
            </p:nvSpPr>
            <p:spPr>
              <a:xfrm>
                <a:off x="3810311" y="3321018"/>
                <a:ext cx="2971490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000" b="1" noProof="0"/>
                  <a:t>Warp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1" i="1" noProof="0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pt-BR" sz="20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pt-BR" sz="2000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1" i="1" noProof="0" smtClean="0"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pt-BR" sz="20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1" i="1" noProof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2000" b="1" i="1" noProof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pt-BR" sz="2000" b="1" i="1">
                        <a:latin typeface="Cambria Math" panose="02040503050406030204" pitchFamily="18" charset="0"/>
                      </a:rPr>
                      <m:t>𝒕𝒂𝒏</m:t>
                    </m:r>
                    <m:d>
                      <m:d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1" i="0" smtClean="0">
                                    <a:latin typeface="Cambria Math" panose="02040503050406030204" pitchFamily="18" charset="0"/>
                                  </a:rPr>
                                  <m:t>𝛀</m:t>
                                </m:r>
                              </m:e>
                              <m:sub>
                                <m:r>
                                  <a:rPr lang="pt-BR" sz="20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id="{61F1633F-B19D-2930-B92C-A93FD25C8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11" y="3321018"/>
                <a:ext cx="2971490" cy="732434"/>
              </a:xfrm>
              <a:prstGeom prst="roundRect">
                <a:avLst/>
              </a:prstGeom>
              <a:blipFill>
                <a:blip r:embed="rId9"/>
                <a:stretch>
                  <a:fillRect l="-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1B2BA901-F1AB-BE2B-F229-E03CDD505DA2}"/>
                  </a:ext>
                </a:extLst>
              </p:cNvPr>
              <p:cNvSpPr/>
              <p:nvPr/>
            </p:nvSpPr>
            <p:spPr>
              <a:xfrm>
                <a:off x="3810311" y="4219680"/>
                <a:ext cx="2971490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𝟎𝟐𝟕</m:t>
                      </m:r>
                    </m:oMath>
                  </m:oMathPara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1B2BA901-F1AB-BE2B-F229-E03CDD505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11" y="4219680"/>
                <a:ext cx="2971490" cy="73243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BFC49061-2667-9D48-7489-C8659692577A}"/>
                  </a:ext>
                </a:extLst>
              </p:cNvPr>
              <p:cNvSpPr/>
              <p:nvPr/>
            </p:nvSpPr>
            <p:spPr>
              <a:xfrm>
                <a:off x="3810311" y="5118342"/>
                <a:ext cx="2971490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𝟎𝟎𝟕</m:t>
                      </m:r>
                    </m:oMath>
                  </m:oMathPara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BFC49061-2667-9D48-7489-C865969257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11" y="5118342"/>
                <a:ext cx="2971490" cy="73243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FC9125CA-7145-1443-E03E-B5950AB9B092}"/>
                  </a:ext>
                </a:extLst>
              </p:cNvPr>
              <p:cNvSpPr/>
              <p:nvPr/>
            </p:nvSpPr>
            <p:spPr>
              <a:xfrm>
                <a:off x="3810311" y="6024808"/>
                <a:ext cx="2971490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𝟎𝟎𝟐</m:t>
                      </m:r>
                    </m:oMath>
                  </m:oMathPara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FC9125CA-7145-1443-E03E-B5950AB9B0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311" y="6024808"/>
                <a:ext cx="2971490" cy="732434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F9E93C88-F32C-133C-58E9-92A7F8B68195}"/>
                  </a:ext>
                </a:extLst>
              </p:cNvPr>
              <p:cNvSpPr/>
              <p:nvPr/>
            </p:nvSpPr>
            <p:spPr>
              <a:xfrm>
                <a:off x="6953563" y="3321018"/>
                <a:ext cx="2466662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000" b="1" noProof="0"/>
                  <a:t>Design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1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1" i="1" noProof="0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2000" b="1" i="1" noProof="0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pt-BR" sz="2000" b="1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1" i="1" noProof="0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000" b="1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F9E93C88-F32C-133C-58E9-92A7F8B68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63" y="3321018"/>
                <a:ext cx="2466662" cy="732434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F07FD35A-C511-0BF0-AD0B-46674523D7EE}"/>
                  </a:ext>
                </a:extLst>
              </p:cNvPr>
              <p:cNvSpPr/>
              <p:nvPr/>
            </p:nvSpPr>
            <p:spPr>
              <a:xfrm>
                <a:off x="6953563" y="4200818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num>
                            <m:den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𝟎𝟐𝟕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F07FD35A-C511-0BF0-AD0B-46674523D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63" y="4200818"/>
                <a:ext cx="2466663" cy="732434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B0653AF0-C76D-FAFA-05DC-D73DE4F5C4C6}"/>
                  </a:ext>
                </a:extLst>
              </p:cNvPr>
              <p:cNvSpPr/>
              <p:nvPr/>
            </p:nvSpPr>
            <p:spPr>
              <a:xfrm>
                <a:off x="6953563" y="5132734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num>
                            <m:den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𝟎𝟎𝟕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B0653AF0-C76D-FAFA-05DC-D73DE4F5C4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63" y="5132734"/>
                <a:ext cx="2466663" cy="732434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2E63EBD3-FC54-372D-4005-65B475222FB3}"/>
                  </a:ext>
                </a:extLst>
              </p:cNvPr>
              <p:cNvSpPr/>
              <p:nvPr/>
            </p:nvSpPr>
            <p:spPr>
              <a:xfrm>
                <a:off x="6953562" y="6017004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i="1" noProof="0" dirty="0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num>
                            <m:den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𝟎𝟎𝟐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2E63EBD3-FC54-372D-4005-65B475222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62" y="6017004"/>
                <a:ext cx="2466663" cy="732434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CFB1B26F-442F-09FF-5998-2FF1CF86250C}"/>
                  </a:ext>
                </a:extLst>
              </p:cNvPr>
              <p:cNvSpPr/>
              <p:nvPr/>
            </p:nvSpPr>
            <p:spPr>
              <a:xfrm>
                <a:off x="9591987" y="3321018"/>
                <a:ext cx="2466662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/>
                  <a:t>H(z) is the bilinear transform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20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noProof="0" dirty="0"/>
              </a:p>
            </p:txBody>
          </p:sp>
        </mc:Choice>
        <mc:Fallback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CFB1B26F-442F-09FF-5998-2FF1CF862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987" y="3321018"/>
                <a:ext cx="2466662" cy="732434"/>
              </a:xfrm>
              <a:prstGeom prst="roundRect">
                <a:avLst/>
              </a:prstGeom>
              <a:blipFill>
                <a:blip r:embed="rId17"/>
                <a:stretch>
                  <a:fillRect l="-244" r="-2689" b="-112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A859C848-5FC4-5D0D-F41F-B1F593584835}"/>
                  </a:ext>
                </a:extLst>
              </p:cNvPr>
              <p:cNvSpPr/>
              <p:nvPr/>
            </p:nvSpPr>
            <p:spPr>
              <a:xfrm>
                <a:off x="9591986" y="4200818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f>
                            <m:fPr>
                              <m:ctrlP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 dirty="0"/>
              </a:p>
            </p:txBody>
          </p:sp>
        </mc:Choice>
        <mc:Fallback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A859C848-5FC4-5D0D-F41F-B1F593584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986" y="4200818"/>
                <a:ext cx="2466663" cy="732434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tângulo: Cantos Arredondados 26">
                <a:extLst>
                  <a:ext uri="{FF2B5EF4-FFF2-40B4-BE49-F238E27FC236}">
                    <a16:creationId xmlns:a16="http://schemas.microsoft.com/office/drawing/2014/main" id="{B9C83C56-BC1C-3CF0-6C80-CA4E5930A0C0}"/>
                  </a:ext>
                </a:extLst>
              </p:cNvPr>
              <p:cNvSpPr/>
              <p:nvPr/>
            </p:nvSpPr>
            <p:spPr>
              <a:xfrm>
                <a:off x="9591986" y="5117101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f>
                            <m:fPr>
                              <m:ctrlP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 dirty="0"/>
              </a:p>
            </p:txBody>
          </p:sp>
        </mc:Choice>
        <mc:Fallback>
          <p:sp>
            <p:nvSpPr>
              <p:cNvPr id="27" name="Retângulo: Cantos Arredondados 26">
                <a:extLst>
                  <a:ext uri="{FF2B5EF4-FFF2-40B4-BE49-F238E27FC236}">
                    <a16:creationId xmlns:a16="http://schemas.microsoft.com/office/drawing/2014/main" id="{B9C83C56-BC1C-3CF0-6C80-CA4E5930A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986" y="5117101"/>
                <a:ext cx="2466663" cy="732434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tângulo: Cantos Arredondados 27">
                <a:extLst>
                  <a:ext uri="{FF2B5EF4-FFF2-40B4-BE49-F238E27FC236}">
                    <a16:creationId xmlns:a16="http://schemas.microsoft.com/office/drawing/2014/main" id="{0FF6100E-8A2F-3C08-65D1-A2F56BEE829C}"/>
                  </a:ext>
                </a:extLst>
              </p:cNvPr>
              <p:cNvSpPr/>
              <p:nvPr/>
            </p:nvSpPr>
            <p:spPr>
              <a:xfrm>
                <a:off x="9591985" y="6017004"/>
                <a:ext cx="2466663" cy="732434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d>
                        <m:dPr>
                          <m:ctrlPr>
                            <a:rPr lang="en-US" sz="2000" b="1" i="1" noProof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noProof="0" dirty="0" smtClean="0">
                              <a:latin typeface="Cambria Math" panose="02040503050406030204" pitchFamily="18" charset="0"/>
                            </a:rPr>
                            <m:t>𝟒𝟎</m:t>
                          </m:r>
                          <m:f>
                            <m:fPr>
                              <m:ctrlP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1" i="1" noProof="0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noProof="0" dirty="0"/>
              </a:p>
            </p:txBody>
          </p:sp>
        </mc:Choice>
        <mc:Fallback>
          <p:sp>
            <p:nvSpPr>
              <p:cNvPr id="28" name="Retângulo: Cantos Arredondados 27">
                <a:extLst>
                  <a:ext uri="{FF2B5EF4-FFF2-40B4-BE49-F238E27FC236}">
                    <a16:creationId xmlns:a16="http://schemas.microsoft.com/office/drawing/2014/main" id="{0FF6100E-8A2F-3C08-65D1-A2F56BEE82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985" y="6017004"/>
                <a:ext cx="2466663" cy="732434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60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2CE8D30-1AF2-296D-BF5B-33405542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86B5FE7-69CB-8BAE-92A3-AE960DA7A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9" y="2187861"/>
            <a:ext cx="5257799" cy="3405950"/>
          </a:xfrm>
          <a:prstGeom prst="rect">
            <a:avLst/>
          </a:prstGeom>
        </p:spPr>
      </p:pic>
      <p:sp>
        <p:nvSpPr>
          <p:cNvPr id="98" name="Google Shape;98;p4">
            <a:extLst>
              <a:ext uri="{FF2B5EF4-FFF2-40B4-BE49-F238E27FC236}">
                <a16:creationId xmlns:a16="http://schemas.microsoft.com/office/drawing/2014/main" id="{B7601064-55C3-EFB5-3E67-A05AACEF1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/>
              <a:t>Considerations about the Bilinear Transform</a:t>
            </a:r>
            <a:endParaRPr lang="en-US" noProof="0"/>
          </a:p>
        </p:txBody>
      </p:sp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6E3AC4CA-DCF2-A197-8DC1-89B253101CE9}"/>
              </a:ext>
            </a:extLst>
          </p:cNvPr>
          <p:cNvSpPr txBox="1"/>
          <p:nvPr/>
        </p:nvSpPr>
        <p:spPr bwMode="auto">
          <a:xfrm>
            <a:off x="0" y="0"/>
            <a:ext cx="12192000" cy="486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700" b="1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Design with Bilinear Transformation</a:t>
            </a:r>
            <a:endParaRPr lang="en-US" b="1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44E93338-71BD-0254-7843-358C7D4019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13</a:t>
            </a:fld>
            <a:endParaRPr lang="en-US" noProof="0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CC37CF0F-30C3-5667-5C52-E90866BF42CC}"/>
                  </a:ext>
                </a:extLst>
              </p:cNvPr>
              <p:cNvSpPr/>
              <p:nvPr/>
            </p:nvSpPr>
            <p:spPr>
              <a:xfrm>
                <a:off x="238124" y="1231761"/>
                <a:ext cx="5343525" cy="1202786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/>
                  <a:t>Warping is not linear but is close to </a:t>
                </a:r>
                <a:r>
                  <a:rPr lang="en-US" sz="2400" b="1"/>
                  <a:t>linear near </a:t>
                </a:r>
                <a14:m>
                  <m:oMath xmlns:m="http://schemas.openxmlformats.org/officeDocument/2006/math">
                    <m:r>
                      <a:rPr lang="pt-BR" sz="2400" b="1" i="0" smtClean="0">
                        <a:latin typeface="Cambria Math" panose="02040503050406030204" pitchFamily="18" charset="0"/>
                      </a:rPr>
                      <m:t>𝛀</m:t>
                    </m:r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noProof="0"/>
              </a:p>
            </p:txBody>
          </p:sp>
        </mc:Choice>
        <mc:Fallback xmlns="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CC37CF0F-30C3-5667-5C52-E90866BF42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1231761"/>
                <a:ext cx="5343525" cy="12027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2943F004-95A1-04D0-9A0F-2BC20930200D}"/>
                  </a:ext>
                </a:extLst>
              </p:cNvPr>
              <p:cNvSpPr/>
              <p:nvPr/>
            </p:nvSpPr>
            <p:spPr>
              <a:xfrm>
                <a:off x="238123" y="5593811"/>
                <a:ext cx="5343525" cy="1202786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 noProof="0" err="1"/>
                  <a:t>If</a:t>
                </a:r>
                <a:r>
                  <a:rPr lang="pt-BR" sz="2400" b="1" noProof="0"/>
                  <a:t> </a:t>
                </a:r>
                <a:r>
                  <a:rPr lang="pt-BR" sz="2400" b="1" noProof="0" err="1"/>
                  <a:t>needed</a:t>
                </a:r>
                <a:r>
                  <a:rPr lang="pt-BR" sz="2400" b="1"/>
                  <a:t>, </a:t>
                </a:r>
                <a:r>
                  <a:rPr lang="pt-BR" sz="2400" b="1" err="1"/>
                  <a:t>one</a:t>
                </a:r>
                <a:r>
                  <a:rPr lang="pt-BR" sz="2400" b="1"/>
                  <a:t> </a:t>
                </a:r>
                <a:r>
                  <a:rPr lang="pt-BR" sz="2400" b="1" err="1"/>
                  <a:t>may</a:t>
                </a:r>
                <a:r>
                  <a:rPr lang="pt-BR" sz="2400" b="1"/>
                  <a:t> </a:t>
                </a:r>
                <a:r>
                  <a:rPr lang="pt-BR" sz="2400" b="1" err="1"/>
                  <a:t>increase</a:t>
                </a:r>
                <a:r>
                  <a:rPr lang="pt-BR" sz="2400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b="1" noProof="0"/>
                  <a:t> largely enough to better mimic an analog H(s)</a:t>
                </a:r>
              </a:p>
            </p:txBody>
          </p:sp>
        </mc:Choice>
        <mc:Fallback xmlns=""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2943F004-95A1-04D0-9A0F-2BC209302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3" y="5593811"/>
                <a:ext cx="5343525" cy="1202786"/>
              </a:xfrm>
              <a:prstGeom prst="roundRect">
                <a:avLst/>
              </a:prstGeom>
              <a:blipFill>
                <a:blip r:embed="rId5"/>
                <a:stretch>
                  <a:fillRect t="-1990" r="-341"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40859D9-6260-AE99-6425-BA1F82888809}"/>
              </a:ext>
            </a:extLst>
          </p:cNvPr>
          <p:cNvSpPr/>
          <p:nvPr/>
        </p:nvSpPr>
        <p:spPr>
          <a:xfrm>
            <a:off x="6398068" y="1538178"/>
            <a:ext cx="5343525" cy="120278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noProof="0" err="1"/>
              <a:t>You</a:t>
            </a:r>
            <a:r>
              <a:rPr lang="pt-BR" sz="2400" b="1" noProof="0"/>
              <a:t> </a:t>
            </a:r>
            <a:r>
              <a:rPr lang="pt-BR" sz="2400" b="1" noProof="0" err="1"/>
              <a:t>can</a:t>
            </a:r>
            <a:r>
              <a:rPr lang="pt-BR" sz="2400" b="1" noProof="0"/>
              <a:t> </a:t>
            </a:r>
            <a:r>
              <a:rPr lang="pt-BR" sz="2400" b="1" noProof="0" err="1"/>
              <a:t>only</a:t>
            </a:r>
            <a:r>
              <a:rPr lang="pt-BR" sz="2400" b="1" noProof="0"/>
              <a:t> match a </a:t>
            </a:r>
            <a:r>
              <a:rPr lang="pt-BR" sz="2400" b="1" noProof="0" err="1"/>
              <a:t>singl</a:t>
            </a:r>
            <a:r>
              <a:rPr lang="pt-BR" sz="2400" b="1"/>
              <a:t>e Frequency </a:t>
            </a:r>
            <a:r>
              <a:rPr lang="pt-BR" sz="2400" b="1" err="1"/>
              <a:t>with</a:t>
            </a:r>
            <a:r>
              <a:rPr lang="pt-BR" sz="2400" b="1"/>
              <a:t> </a:t>
            </a:r>
            <a:r>
              <a:rPr lang="pt-BR" sz="2400" b="1" err="1"/>
              <a:t>pre-warping</a:t>
            </a:r>
            <a:endParaRPr lang="en-US" sz="2400" b="1" noProof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54968682-0E2F-3D32-4901-937E456B5F94}"/>
                  </a:ext>
                </a:extLst>
              </p:cNvPr>
              <p:cNvSpPr/>
              <p:nvPr/>
            </p:nvSpPr>
            <p:spPr>
              <a:xfrm>
                <a:off x="6398068" y="3053954"/>
                <a:ext cx="5343525" cy="3405951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 dirty="0"/>
                  <a:t>However, when there is no </a:t>
                </a:r>
                <a14:m>
                  <m:oMath xmlns:m="http://schemas.openxmlformats.org/officeDocument/2006/math"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noProof="0" dirty="0"/>
                  <a:t> to imitate or match, the IIR </a:t>
                </a:r>
                <a:r>
                  <a:rPr lang="en-US" sz="2400" b="1" dirty="0"/>
                  <a:t>designs pre-warp multiple digital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/>
                  <a:t> to analog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/>
                  <a:t>, perform analog algorithms that generate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, then finally performing bilinear transformation</a:t>
                </a:r>
              </a:p>
            </p:txBody>
          </p:sp>
        </mc:Choice>
        <mc:Fallback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54968682-0E2F-3D32-4901-937E456B5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068" y="3053954"/>
                <a:ext cx="5343525" cy="340595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17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>
          <a:extLst>
            <a:ext uri="{FF2B5EF4-FFF2-40B4-BE49-F238E27FC236}">
              <a16:creationId xmlns:a16="http://schemas.microsoft.com/office/drawing/2014/main" id="{A858D753-66B8-0C5D-FBF2-05FE8DB7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D75FE424-F512-75C2-3C9B-1E843B5BBC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>
                <a:solidFill>
                  <a:schemeClr val="accent6"/>
                </a:solidFill>
              </a:rPr>
            </a:br>
            <a:r>
              <a:rPr lang="en-US" sz="5867" noProof="0">
                <a:solidFill>
                  <a:schemeClr val="accent6"/>
                </a:solidFill>
              </a:rPr>
              <a:t>Thank you!</a:t>
            </a:r>
            <a:br>
              <a:rPr lang="en-US" sz="5867" noProof="0">
                <a:solidFill>
                  <a:schemeClr val="accent6"/>
                </a:solidFill>
              </a:rPr>
            </a:br>
            <a:endParaRPr lang="en-US" noProof="0">
              <a:solidFill>
                <a:schemeClr val="accent6"/>
              </a:solidFill>
            </a:endParaRP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6376D4D1-6AA7-5EB6-8A1D-BB2F07FAE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>
                <a:solidFill>
                  <a:srgbClr val="0C5ADB"/>
                </a:solidFill>
              </a:rPr>
              <a:t>Prof. Aldebaro Klautau.</a:t>
            </a:r>
            <a:br>
              <a:rPr lang="en-US" sz="2800" b="1" noProof="0">
                <a:solidFill>
                  <a:srgbClr val="0C5ADB"/>
                </a:solidFill>
              </a:rPr>
            </a:br>
            <a:r>
              <a:rPr lang="en-US" sz="2800" b="1" noProof="0">
                <a:solidFill>
                  <a:srgbClr val="0C5ADB"/>
                </a:solidFill>
              </a:rPr>
              <a:t>Federal University of Pará (UFPA)</a:t>
            </a:r>
            <a:endParaRPr lang="en-US" noProof="0"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BEA730A7-0F15-D559-1EA1-8E4389F4A206}"/>
              </a:ext>
            </a:extLst>
          </p:cNvPr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/>
          </a:p>
        </p:txBody>
      </p:sp>
    </p:spTree>
    <p:extLst>
      <p:ext uri="{BB962C8B-B14F-4D97-AF65-F5344CB8AC3E}">
        <p14:creationId xmlns:p14="http://schemas.microsoft.com/office/powerpoint/2010/main" val="3793562107"/>
      </p:ext>
    </p:extLst>
  </p:cSld>
  <p:clrMapOvr>
    <a:masterClrMapping/>
  </p:clrMapOvr>
</p:sld>
</file>

<file path=ppt/theme/theme1.xml><?xml version="1.0" encoding="utf-8"?>
<a:theme xmlns:a="http://schemas.openxmlformats.org/drawingml/2006/main" name="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2.xml><?xml version="1.0" encoding="utf-8"?>
<a:theme xmlns:a="http://schemas.openxmlformats.org/drawingml/2006/main" name="2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3.xml><?xml version="1.0" encoding="utf-8"?>
<a:theme xmlns:a="http://schemas.openxmlformats.org/drawingml/2006/main" name="3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slides_3A2</Template>
  <TotalTime>0</TotalTime>
  <Words>848</Words>
  <Application>Microsoft Office PowerPoint</Application>
  <PresentationFormat>Widescreen</PresentationFormat>
  <Paragraphs>115</Paragraphs>
  <Slides>14</Slides>
  <Notes>14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LASSE</vt:lpstr>
      <vt:lpstr>2_LASSE</vt:lpstr>
      <vt:lpstr>3_LASSE</vt:lpstr>
      <vt:lpstr> Digital Signal Processing  Digital Filters </vt:lpstr>
      <vt:lpstr>Discussion on Filters</vt:lpstr>
      <vt:lpstr>Linear Phase Filters </vt:lpstr>
      <vt:lpstr>Analog x Digital Filters</vt:lpstr>
      <vt:lpstr>LCCDE digital filters</vt:lpstr>
      <vt:lpstr>Example: Obtaining the difference equation and implementing a digital filter</vt:lpstr>
      <vt:lpstr>FIR, IIR, AR, MA and ARMA systems</vt:lpstr>
      <vt:lpstr>IIR Filter Design  </vt:lpstr>
      <vt:lpstr>Methods to convert continuous into discrete-time system functions</vt:lpstr>
      <vt:lpstr>Bilinear Transformation: Definition and Properties</vt:lpstr>
      <vt:lpstr>Mapping the Z-plane DTFT into the S-plane FT via Bilinear Transform</vt:lpstr>
      <vt:lpstr>Since bilinear warps, we pre-warp</vt:lpstr>
      <vt:lpstr>Considerations about the Bilinear Transform</vt:lpstr>
      <vt:lpstr> 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Breno Silva</dc:creator>
  <cp:lastModifiedBy>Breno Silva</cp:lastModifiedBy>
  <cp:revision>3</cp:revision>
  <dcterms:created xsi:type="dcterms:W3CDTF">2026-06-04T23:22:55Z</dcterms:created>
  <dcterms:modified xsi:type="dcterms:W3CDTF">2026-06-11T16:33:50Z</dcterms:modified>
</cp:coreProperties>
</file>